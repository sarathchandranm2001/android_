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98"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71"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9" r:id="rId38"/>
    <p:sldId id="297" r:id="rId39"/>
  </p:sldIdLst>
  <p:sldSz cx="9144000" cy="5143500" type="screen16x9"/>
  <p:notesSz cx="6858000" cy="9144000"/>
  <p:embeddedFontLst>
    <p:embeddedFont>
      <p:font typeface="Lato" panose="020F0502020204030203" pitchFamily="34" charset="0"/>
      <p:regular r:id="rId41"/>
      <p:bold r:id="rId42"/>
      <p:italic r:id="rId43"/>
      <p:boldItalic r:id="rId44"/>
    </p:embeddedFont>
    <p:embeddedFont>
      <p:font typeface="Raleway"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20af09534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20af09534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20af095342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20af095342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20af095342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20af095342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20af09534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20af09534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20af095342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20af095342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20af095342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20af095342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23a64d94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23a64d943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20af095342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20af095342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20af095342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20af095342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20af095342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20af095342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20af095342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20af095342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20af095342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20af095342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20af095342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20af095342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20af095342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20af095342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20af095342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20af095342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20af095342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20af095342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20af095342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120af095342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20af095342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20af095342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20af095342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120af095342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20af095342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20af095342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20af095342_1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20af095342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20af095342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20af095342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20af095342_1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20af095342_1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20af095342_1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20af095342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20af095342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20af095342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20af095342_1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20af095342_1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20af095342_1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20af095342_1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20af095342_1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120af095342_1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20af095342_1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20af095342_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20af095342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20af095342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20af095342_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20af095342_1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20af095342_1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20af095342_1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120af095342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120af095342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20af095342_1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20af095342_1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24f9b7e510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24f9b7e510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b="1"/>
              <a:t>Broadcast Intents and</a:t>
            </a:r>
            <a:endParaRPr b="1"/>
          </a:p>
          <a:p>
            <a:pPr marL="0" lvl="0" indent="0" algn="l" rtl="0">
              <a:spcBef>
                <a:spcPts val="0"/>
              </a:spcBef>
              <a:spcAft>
                <a:spcPts val="0"/>
              </a:spcAft>
              <a:buNone/>
            </a:pPr>
            <a:r>
              <a:rPr lang="en" b="1"/>
              <a:t>Broadcast Receivers</a:t>
            </a:r>
            <a:endParaRPr b="1"/>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b="1" i="1" dirty="0"/>
          </a:p>
        </p:txBody>
      </p:sp>
      <p:sp>
        <p:nvSpPr>
          <p:cNvPr id="88" name="Google Shape;88;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a:t>
            </a:fld>
            <a:endParaRPr>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82CC-83F5-C847-442B-0C024D5B6233}"/>
              </a:ext>
            </a:extLst>
          </p:cNvPr>
          <p:cNvSpPr>
            <a:spLocks noGrp="1"/>
          </p:cNvSpPr>
          <p:nvPr>
            <p:ph type="title"/>
          </p:nvPr>
        </p:nvSpPr>
        <p:spPr/>
        <p:txBody>
          <a:bodyPr>
            <a:normAutofit fontScale="90000"/>
          </a:bodyPr>
          <a:lstStyle/>
          <a:p>
            <a:r>
              <a:rPr lang="en-IN" dirty="0"/>
              <a:t>Exercises</a:t>
            </a:r>
          </a:p>
        </p:txBody>
      </p:sp>
      <p:sp>
        <p:nvSpPr>
          <p:cNvPr id="3" name="Text Placeholder 2">
            <a:extLst>
              <a:ext uri="{FF2B5EF4-FFF2-40B4-BE49-F238E27FC236}">
                <a16:creationId xmlns:a16="http://schemas.microsoft.com/office/drawing/2014/main" id="{B91CB163-6C5F-9F17-21FD-445AD7DAF241}"/>
              </a:ext>
            </a:extLst>
          </p:cNvPr>
          <p:cNvSpPr>
            <a:spLocks noGrp="1"/>
          </p:cNvSpPr>
          <p:nvPr>
            <p:ph type="body" idx="1"/>
          </p:nvPr>
        </p:nvSpPr>
        <p:spPr/>
        <p:txBody>
          <a:bodyPr/>
          <a:lstStyle/>
          <a:p>
            <a:pPr marL="488950" indent="-342900">
              <a:buAutoNum type="arabicPeriod"/>
            </a:pPr>
            <a:r>
              <a:rPr lang="en-IN" dirty="0"/>
              <a:t>Create an app to broadcast a custom intent</a:t>
            </a:r>
          </a:p>
          <a:p>
            <a:pPr marL="488950" indent="-342900">
              <a:buAutoNum type="arabicPeriod"/>
            </a:pPr>
            <a:r>
              <a:rPr lang="en-IN" dirty="0"/>
              <a:t>Create an app to broadcast a </a:t>
            </a:r>
            <a:r>
              <a:rPr lang="en-IN"/>
              <a:t>system intent (AIRPLANE MODE CHANGED)</a:t>
            </a:r>
            <a:endParaRPr lang="en-IN" dirty="0"/>
          </a:p>
        </p:txBody>
      </p:sp>
      <p:sp>
        <p:nvSpPr>
          <p:cNvPr id="4" name="Slide Number Placeholder 3">
            <a:extLst>
              <a:ext uri="{FF2B5EF4-FFF2-40B4-BE49-F238E27FC236}">
                <a16:creationId xmlns:a16="http://schemas.microsoft.com/office/drawing/2014/main" id="{F5FD43F9-BE53-D4F4-F9F3-F2267E8D77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50867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Broadcast Intents and Broadcast Receivers</a:t>
            </a:r>
            <a:endParaRPr/>
          </a:p>
        </p:txBody>
      </p:sp>
      <p:sp>
        <p:nvSpPr>
          <p:cNvPr id="94" name="Google Shape;94;p14"/>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 way to broadcast system wide messages to other components on the system.</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Involves the implementation of Broadcast Intents and Broadcast Receivers</a:t>
            </a:r>
            <a:endParaRPr sz="2000">
              <a:latin typeface="Times New Roman"/>
              <a:ea typeface="Times New Roman"/>
              <a:cs typeface="Times New Roman"/>
              <a:sym typeface="Times New Roman"/>
            </a:endParaRPr>
          </a:p>
          <a:p>
            <a:pPr marL="45720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95" name="Google Shape;95;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a:t>
            </a:fld>
            <a:endParaRPr>
              <a:solidFill>
                <a:schemeClr val="accent1"/>
              </a:solidFill>
              <a:latin typeface="Lato"/>
              <a:ea typeface="Lato"/>
              <a:cs typeface="Lato"/>
              <a:sym typeface="Lato"/>
            </a:endParaRPr>
          </a:p>
        </p:txBody>
      </p:sp>
      <p:pic>
        <p:nvPicPr>
          <p:cNvPr id="96" name="Google Shape;96;p14"/>
          <p:cNvPicPr preferRelativeResize="0"/>
          <p:nvPr/>
        </p:nvPicPr>
        <p:blipFill>
          <a:blip r:embed="rId3">
            <a:alphaModFix/>
          </a:blip>
          <a:stretch>
            <a:fillRect/>
          </a:stretch>
        </p:blipFill>
        <p:spPr>
          <a:xfrm>
            <a:off x="2233613" y="2930563"/>
            <a:ext cx="4676775" cy="1819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02" name="Google Shape;102;p15"/>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Broadcast intents are used by the Android system to notify interested applications about key system events.</a:t>
            </a:r>
            <a:endParaRPr sz="2000" dirty="0">
              <a:latin typeface="Times New Roman"/>
              <a:ea typeface="Times New Roman"/>
              <a:cs typeface="Times New Roman"/>
              <a:sym typeface="Times New Roman"/>
            </a:endParaRPr>
          </a:p>
          <a:p>
            <a:pPr marL="9144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Such as the external power supply or headphones being connected or disconnected.</a:t>
            </a:r>
            <a:endParaRPr sz="2000" dirty="0">
              <a:latin typeface="Times New Roman"/>
              <a:ea typeface="Times New Roman"/>
              <a:cs typeface="Times New Roman"/>
              <a:sym typeface="Times New Roman"/>
            </a:endParaRPr>
          </a:p>
        </p:txBody>
      </p:sp>
      <p:sp>
        <p:nvSpPr>
          <p:cNvPr id="103" name="Google Shape;103;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4</a:t>
            </a:fld>
            <a:endParaRPr>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09" name="Google Shape;109;p16"/>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The action string, which identifies the broadcast event, must be unique and typically uses the application’s package name syntax. </a:t>
            </a:r>
            <a:endParaRPr sz="2000" dirty="0">
              <a:latin typeface="Times New Roman"/>
              <a:ea typeface="Times New Roman"/>
              <a:cs typeface="Times New Roman"/>
              <a:sym typeface="Times New Roman"/>
            </a:endParaRPr>
          </a:p>
          <a:p>
            <a:pPr marL="914400" lvl="0" indent="0" algn="just" rtl="0">
              <a:spcBef>
                <a:spcPts val="1200"/>
              </a:spcBef>
              <a:spcAft>
                <a:spcPts val="1200"/>
              </a:spcAft>
              <a:buNone/>
            </a:pPr>
            <a:endParaRPr sz="2000" dirty="0">
              <a:latin typeface="Times New Roman"/>
              <a:ea typeface="Times New Roman"/>
              <a:cs typeface="Times New Roman"/>
              <a:sym typeface="Times New Roman"/>
            </a:endParaRPr>
          </a:p>
        </p:txBody>
      </p:sp>
      <p:sp>
        <p:nvSpPr>
          <p:cNvPr id="110" name="Google Shape;110;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5</a:t>
            </a:fld>
            <a:endParaRPr>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16" name="Google Shape;116;p17"/>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914400" lvl="0" indent="0" algn="just" rtl="0">
              <a:spcBef>
                <a:spcPts val="0"/>
              </a:spcBef>
              <a:spcAft>
                <a:spcPts val="0"/>
              </a:spcAft>
              <a:buNone/>
            </a:pPr>
            <a:r>
              <a:rPr lang="en" sz="2000" b="1" i="1">
                <a:latin typeface="Times New Roman"/>
                <a:ea typeface="Times New Roman"/>
                <a:cs typeface="Times New Roman"/>
                <a:sym typeface="Times New Roman"/>
              </a:rPr>
              <a:t>Intent intent = new Intent();</a:t>
            </a:r>
            <a:endParaRPr sz="2000" b="1" i="1">
              <a:latin typeface="Times New Roman"/>
              <a:ea typeface="Times New Roman"/>
              <a:cs typeface="Times New Roman"/>
              <a:sym typeface="Times New Roman"/>
            </a:endParaRPr>
          </a:p>
          <a:p>
            <a:pPr marL="914400" lvl="0" indent="0" algn="just" rtl="0">
              <a:spcBef>
                <a:spcPts val="1200"/>
              </a:spcBef>
              <a:spcAft>
                <a:spcPts val="0"/>
              </a:spcAft>
              <a:buNone/>
            </a:pPr>
            <a:r>
              <a:rPr lang="en" sz="2000" b="1" i="1">
                <a:latin typeface="Times New Roman"/>
                <a:ea typeface="Times New Roman"/>
                <a:cs typeface="Times New Roman"/>
                <a:sym typeface="Times New Roman"/>
              </a:rPr>
              <a:t>intent.setAction("com.example.Broadcast");</a:t>
            </a:r>
            <a:endParaRPr sz="2000" b="1" i="1">
              <a:latin typeface="Times New Roman"/>
              <a:ea typeface="Times New Roman"/>
              <a:cs typeface="Times New Roman"/>
              <a:sym typeface="Times New Roman"/>
            </a:endParaRPr>
          </a:p>
          <a:p>
            <a:pPr marL="914400" lvl="0" indent="0" algn="just" rtl="0">
              <a:spcBef>
                <a:spcPts val="1200"/>
              </a:spcBef>
              <a:spcAft>
                <a:spcPts val="0"/>
              </a:spcAft>
              <a:buNone/>
            </a:pPr>
            <a:r>
              <a:rPr lang="en" sz="2000" b="1" i="1">
                <a:latin typeface="Times New Roman"/>
                <a:ea typeface="Times New Roman"/>
                <a:cs typeface="Times New Roman"/>
                <a:sym typeface="Times New Roman"/>
              </a:rPr>
              <a:t>intent.putExtra("MyData", 1000);</a:t>
            </a:r>
            <a:endParaRPr sz="2000" b="1" i="1">
              <a:latin typeface="Times New Roman"/>
              <a:ea typeface="Times New Roman"/>
              <a:cs typeface="Times New Roman"/>
              <a:sym typeface="Times New Roman"/>
            </a:endParaRPr>
          </a:p>
          <a:p>
            <a:pPr marL="914400" lvl="0" indent="0" algn="just" rtl="0">
              <a:spcBef>
                <a:spcPts val="1200"/>
              </a:spcBef>
              <a:spcAft>
                <a:spcPts val="0"/>
              </a:spcAft>
              <a:buNone/>
            </a:pPr>
            <a:r>
              <a:rPr lang="en" sz="2000" b="1" i="1">
                <a:latin typeface="Times New Roman"/>
                <a:ea typeface="Times New Roman"/>
                <a:cs typeface="Times New Roman"/>
                <a:sym typeface="Times New Roman"/>
              </a:rPr>
              <a:t>sendBroadcast(intent);</a:t>
            </a:r>
            <a:endParaRPr sz="2000" b="1" i="1">
              <a:latin typeface="Times New Roman"/>
              <a:ea typeface="Times New Roman"/>
              <a:cs typeface="Times New Roman"/>
              <a:sym typeface="Times New Roman"/>
            </a:endParaRPr>
          </a:p>
          <a:p>
            <a:pPr marL="457200" lvl="0" indent="-355600" algn="just" rtl="0">
              <a:spcBef>
                <a:spcPts val="1200"/>
              </a:spcBef>
              <a:spcAft>
                <a:spcPts val="0"/>
              </a:spcAft>
              <a:buSzPts val="2000"/>
              <a:buFont typeface="Times New Roman"/>
              <a:buChar char="❏"/>
            </a:pPr>
            <a:r>
              <a:rPr lang="en" sz="2000">
                <a:latin typeface="Times New Roman"/>
                <a:ea typeface="Times New Roman"/>
                <a:cs typeface="Times New Roman"/>
                <a:sym typeface="Times New Roman"/>
              </a:rPr>
              <a:t>Successfully launch the corresponding broadcast receiver on a device running an Android version earlier than 3.0.</a:t>
            </a:r>
            <a:endParaRPr sz="2000">
              <a:latin typeface="Times New Roman"/>
              <a:ea typeface="Times New Roman"/>
              <a:cs typeface="Times New Roman"/>
              <a:sym typeface="Times New Roman"/>
            </a:endParaRPr>
          </a:p>
        </p:txBody>
      </p:sp>
      <p:sp>
        <p:nvSpPr>
          <p:cNvPr id="117" name="Google Shape;117;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6</a:t>
            </a:fld>
            <a:endParaRPr>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8"/>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23" name="Google Shape;123;p18"/>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On more recent versions of Android, the intent would not be received by the broadcast receiver. </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This is because Android 3.0 introduced a launch control security measure that prevents components of </a:t>
            </a:r>
            <a:r>
              <a:rPr lang="en" sz="2000" i="1">
                <a:latin typeface="Times New Roman"/>
                <a:ea typeface="Times New Roman"/>
                <a:cs typeface="Times New Roman"/>
                <a:sym typeface="Times New Roman"/>
              </a:rPr>
              <a:t>stopped</a:t>
            </a:r>
            <a:r>
              <a:rPr lang="en" sz="2000">
                <a:latin typeface="Times New Roman"/>
                <a:ea typeface="Times New Roman"/>
                <a:cs typeface="Times New Roman"/>
                <a:sym typeface="Times New Roman"/>
              </a:rPr>
              <a:t> applications from being launched via an intent.</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Stopped: application has either just been installed and not previously launched, or been manually stopped by the user using the application manager on the device.</a:t>
            </a:r>
            <a:endParaRPr sz="2000">
              <a:latin typeface="Times New Roman"/>
              <a:ea typeface="Times New Roman"/>
              <a:cs typeface="Times New Roman"/>
              <a:sym typeface="Times New Roman"/>
            </a:endParaRPr>
          </a:p>
        </p:txBody>
      </p:sp>
      <p:sp>
        <p:nvSpPr>
          <p:cNvPr id="124" name="Google Shape;124;p1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7</a:t>
            </a:fld>
            <a:endParaRPr>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30" name="Google Shape;130;p19"/>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lnSpcReduction="20000"/>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 flag can be added to the intent before it is sent to indicate that the intent is to be allowed to start a component of a stopped application.</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b="1">
                <a:latin typeface="Times New Roman"/>
                <a:ea typeface="Times New Roman"/>
                <a:cs typeface="Times New Roman"/>
                <a:sym typeface="Times New Roman"/>
              </a:rPr>
              <a:t>FLAG_INCLUDE_STOPPED_PACKAGES</a:t>
            </a:r>
            <a:endParaRPr sz="2000" b="1">
              <a:latin typeface="Times New Roman"/>
              <a:ea typeface="Times New Roman"/>
              <a:cs typeface="Times New Roman"/>
              <a:sym typeface="Times New Roman"/>
            </a:endParaRPr>
          </a:p>
          <a:p>
            <a:pPr marL="914400" lvl="0" indent="0" algn="just" rtl="0">
              <a:spcBef>
                <a:spcPts val="1200"/>
              </a:spcBef>
              <a:spcAft>
                <a:spcPts val="0"/>
              </a:spcAft>
              <a:buNone/>
            </a:pPr>
            <a:r>
              <a:rPr lang="en" sz="2000" i="1">
                <a:latin typeface="Times New Roman"/>
                <a:ea typeface="Times New Roman"/>
                <a:cs typeface="Times New Roman"/>
                <a:sym typeface="Times New Roman"/>
              </a:rPr>
              <a:t>Intent intent = new Intent();</a:t>
            </a:r>
            <a:endParaRPr sz="2000" i="1">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intent.addFlags(Intent.FLAG_INCLUDE_STOPPED_PACKAGES);</a:t>
            </a:r>
            <a:endParaRPr sz="2000" b="1" i="1">
              <a:latin typeface="Times New Roman"/>
              <a:ea typeface="Times New Roman"/>
              <a:cs typeface="Times New Roman"/>
              <a:sym typeface="Times New Roman"/>
            </a:endParaRPr>
          </a:p>
          <a:p>
            <a:pPr marL="914400" lvl="0" indent="0" algn="just" rtl="0">
              <a:spcBef>
                <a:spcPts val="1200"/>
              </a:spcBef>
              <a:spcAft>
                <a:spcPts val="0"/>
              </a:spcAft>
              <a:buNone/>
            </a:pPr>
            <a:r>
              <a:rPr lang="en" sz="2000" i="1">
                <a:latin typeface="Times New Roman"/>
                <a:ea typeface="Times New Roman"/>
                <a:cs typeface="Times New Roman"/>
                <a:sym typeface="Times New Roman"/>
              </a:rPr>
              <a:t>intent.setAction("com.example.Broadcast");</a:t>
            </a:r>
            <a:endParaRPr sz="2000" i="1">
              <a:latin typeface="Times New Roman"/>
              <a:ea typeface="Times New Roman"/>
              <a:cs typeface="Times New Roman"/>
              <a:sym typeface="Times New Roman"/>
            </a:endParaRPr>
          </a:p>
          <a:p>
            <a:pPr marL="914400" lvl="0" indent="0" algn="just" rtl="0">
              <a:spcBef>
                <a:spcPts val="1200"/>
              </a:spcBef>
              <a:spcAft>
                <a:spcPts val="0"/>
              </a:spcAft>
              <a:buNone/>
            </a:pPr>
            <a:r>
              <a:rPr lang="en" sz="2000" i="1">
                <a:latin typeface="Times New Roman"/>
                <a:ea typeface="Times New Roman"/>
                <a:cs typeface="Times New Roman"/>
                <a:sym typeface="Times New Roman"/>
              </a:rPr>
              <a:t>intent.putExtra("MyData", 1000);</a:t>
            </a:r>
            <a:endParaRPr sz="2000" i="1">
              <a:latin typeface="Times New Roman"/>
              <a:ea typeface="Times New Roman"/>
              <a:cs typeface="Times New Roman"/>
              <a:sym typeface="Times New Roman"/>
            </a:endParaRPr>
          </a:p>
          <a:p>
            <a:pPr marL="914400" lvl="0" indent="0" algn="just" rtl="0">
              <a:spcBef>
                <a:spcPts val="1200"/>
              </a:spcBef>
              <a:spcAft>
                <a:spcPts val="1200"/>
              </a:spcAft>
              <a:buNone/>
            </a:pPr>
            <a:r>
              <a:rPr lang="en" sz="2000" i="1">
                <a:latin typeface="Times New Roman"/>
                <a:ea typeface="Times New Roman"/>
                <a:cs typeface="Times New Roman"/>
                <a:sym typeface="Times New Roman"/>
              </a:rPr>
              <a:t>sendBroadcast(intent);</a:t>
            </a:r>
            <a:endParaRPr sz="2000" i="1">
              <a:latin typeface="Times New Roman"/>
              <a:ea typeface="Times New Roman"/>
              <a:cs typeface="Times New Roman"/>
              <a:sym typeface="Times New Roman"/>
            </a:endParaRPr>
          </a:p>
        </p:txBody>
      </p:sp>
      <p:sp>
        <p:nvSpPr>
          <p:cNvPr id="131" name="Google Shape;131;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8</a:t>
            </a:fld>
            <a:endParaRPr>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Intents</a:t>
            </a:r>
            <a:endParaRPr/>
          </a:p>
        </p:txBody>
      </p:sp>
      <p:sp>
        <p:nvSpPr>
          <p:cNvPr id="137" name="Google Shape;137;p20"/>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138" name="Google Shape;138;p2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9</a:t>
            </a:fld>
            <a:endParaRPr>
              <a:solidFill>
                <a:schemeClr val="accent1"/>
              </a:solidFill>
              <a:latin typeface="Lato"/>
              <a:ea typeface="Lato"/>
              <a:cs typeface="Lato"/>
              <a:sym typeface="Lato"/>
            </a:endParaRPr>
          </a:p>
        </p:txBody>
      </p:sp>
      <p:pic>
        <p:nvPicPr>
          <p:cNvPr id="139" name="Google Shape;139;p20"/>
          <p:cNvPicPr preferRelativeResize="0"/>
          <p:nvPr/>
        </p:nvPicPr>
        <p:blipFill>
          <a:blip r:embed="rId3">
            <a:alphaModFix/>
          </a:blip>
          <a:stretch>
            <a:fillRect/>
          </a:stretch>
        </p:blipFill>
        <p:spPr>
          <a:xfrm>
            <a:off x="759025" y="1365450"/>
            <a:ext cx="7629525" cy="3552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45" name="Google Shape;145;p21"/>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lnSpcReduction="10000"/>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An application listens for specific broadcast intents by registering a broadcast receiver.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Implemented by extending the Android BroadcastReceiver class and overriding the </a:t>
            </a:r>
            <a:r>
              <a:rPr lang="en" sz="2000" i="1">
                <a:latin typeface="Times New Roman"/>
                <a:ea typeface="Times New Roman"/>
                <a:cs typeface="Times New Roman"/>
                <a:sym typeface="Times New Roman"/>
              </a:rPr>
              <a:t>onReceive() </a:t>
            </a:r>
            <a:r>
              <a:rPr lang="en" sz="2000">
                <a:latin typeface="Times New Roman"/>
                <a:ea typeface="Times New Roman"/>
                <a:cs typeface="Times New Roman"/>
                <a:sym typeface="Times New Roman"/>
              </a:rPr>
              <a:t>method.</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The broadcast receiver may then be registered,.</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Either within code (for example within an activity), or within a manifest file.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Registration implementation involves the creation of intent filters to indicate the specific broadcast intents the receiver is required to listen for.</a:t>
            </a:r>
            <a:endParaRPr sz="2000">
              <a:latin typeface="Times New Roman"/>
              <a:ea typeface="Times New Roman"/>
              <a:cs typeface="Times New Roman"/>
              <a:sym typeface="Times New Roman"/>
            </a:endParaRPr>
          </a:p>
        </p:txBody>
      </p:sp>
      <p:sp>
        <p:nvSpPr>
          <p:cNvPr id="146" name="Google Shape;146;p2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10</a:t>
            </a:fld>
            <a:endParaRPr>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52" name="Google Shape;152;p22"/>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Achieved by referencing the action string of the broadcast intent.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When a matching broadcast is detected, the </a:t>
            </a:r>
            <a:r>
              <a:rPr lang="en" sz="2000" i="1">
                <a:latin typeface="Times New Roman"/>
                <a:ea typeface="Times New Roman"/>
                <a:cs typeface="Times New Roman"/>
                <a:sym typeface="Times New Roman"/>
              </a:rPr>
              <a:t>onReceive()</a:t>
            </a:r>
            <a:r>
              <a:rPr lang="en" sz="2000">
                <a:latin typeface="Times New Roman"/>
                <a:ea typeface="Times New Roman"/>
                <a:cs typeface="Times New Roman"/>
                <a:sym typeface="Times New Roman"/>
              </a:rPr>
              <a:t> method of the broadcast receiver is called.</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At which point the method has 5 seconds within which to perform any necessary tasks before returning.</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In the event that a matching intent is detected, the Android runtime system will automatically start up the broadcast receiver before calling the </a:t>
            </a:r>
            <a:r>
              <a:rPr lang="en" sz="2000" i="1">
                <a:latin typeface="Times New Roman"/>
                <a:ea typeface="Times New Roman"/>
                <a:cs typeface="Times New Roman"/>
                <a:sym typeface="Times New Roman"/>
              </a:rPr>
              <a:t>onReceive()</a:t>
            </a:r>
            <a:r>
              <a:rPr lang="en" sz="2000">
                <a:latin typeface="Times New Roman"/>
                <a:ea typeface="Times New Roman"/>
                <a:cs typeface="Times New Roman"/>
                <a:sym typeface="Times New Roman"/>
              </a:rPr>
              <a:t> method.</a:t>
            </a:r>
            <a:endParaRPr sz="2000">
              <a:latin typeface="Times New Roman"/>
              <a:ea typeface="Times New Roman"/>
              <a:cs typeface="Times New Roman"/>
              <a:sym typeface="Times New Roman"/>
            </a:endParaRPr>
          </a:p>
        </p:txBody>
      </p:sp>
      <p:sp>
        <p:nvSpPr>
          <p:cNvPr id="153" name="Google Shape;153;p2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11</a:t>
            </a:fld>
            <a:endParaRPr>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67" name="Google Shape;167;p24"/>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101600" lvl="0" indent="0" algn="just" rtl="0">
              <a:spcBef>
                <a:spcPts val="1200"/>
              </a:spcBef>
              <a:spcAft>
                <a:spcPts val="0"/>
              </a:spcAft>
              <a:buSzPts val="2000"/>
              <a:buNone/>
            </a:pPr>
            <a:r>
              <a:rPr lang="en" sz="2000" dirty="0">
                <a:latin typeface="Times New Roman"/>
                <a:ea typeface="Times New Roman"/>
                <a:cs typeface="Times New Roman"/>
                <a:sym typeface="Times New Roman"/>
              </a:rPr>
              <a:t>When registering a broadcast receiver within a manifest file, a </a:t>
            </a:r>
            <a:r>
              <a:rPr lang="en" sz="2000" i="1" dirty="0">
                <a:latin typeface="Times New Roman"/>
                <a:ea typeface="Times New Roman"/>
                <a:cs typeface="Times New Roman"/>
                <a:sym typeface="Times New Roman"/>
              </a:rPr>
              <a:t>&lt;receiver&gt;</a:t>
            </a:r>
            <a:r>
              <a:rPr lang="en" sz="2000" dirty="0">
                <a:latin typeface="Times New Roman"/>
                <a:ea typeface="Times New Roman"/>
                <a:cs typeface="Times New Roman"/>
                <a:sym typeface="Times New Roman"/>
              </a:rPr>
              <a:t> entry must be added for the receiver.</a:t>
            </a:r>
            <a:endParaRPr sz="2000" dirty="0">
              <a:latin typeface="Times New Roman"/>
              <a:ea typeface="Times New Roman"/>
              <a:cs typeface="Times New Roman"/>
              <a:sym typeface="Times New Roman"/>
            </a:endParaRPr>
          </a:p>
        </p:txBody>
      </p:sp>
      <p:sp>
        <p:nvSpPr>
          <p:cNvPr id="168" name="Google Shape;168;p2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12</a:t>
            </a:fld>
            <a:endParaRPr>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75" name="Google Shape;175;p25"/>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176" name="Google Shape;176;p2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13</a:t>
            </a:fld>
            <a:endParaRPr>
              <a:solidFill>
                <a:schemeClr val="accent1"/>
              </a:solidFill>
              <a:latin typeface="Lato"/>
              <a:ea typeface="Lato"/>
              <a:cs typeface="Lato"/>
              <a:sym typeface="Lato"/>
            </a:endParaRPr>
          </a:p>
        </p:txBody>
      </p:sp>
      <p:pic>
        <p:nvPicPr>
          <p:cNvPr id="177" name="Google Shape;177;p25"/>
          <p:cNvPicPr preferRelativeResize="0"/>
          <p:nvPr/>
        </p:nvPicPr>
        <p:blipFill>
          <a:blip r:embed="rId3">
            <a:alphaModFix/>
          </a:blip>
          <a:stretch>
            <a:fillRect/>
          </a:stretch>
        </p:blipFill>
        <p:spPr>
          <a:xfrm>
            <a:off x="0" y="401673"/>
            <a:ext cx="9143999" cy="434015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83" name="Google Shape;183;p26"/>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fontScale="85000" lnSpcReduction="20000"/>
          </a:bodyPr>
          <a:lstStyle/>
          <a:p>
            <a:pPr marL="457200" lvl="0" indent="-336550" algn="just" rtl="0">
              <a:spcBef>
                <a:spcPts val="0"/>
              </a:spcBef>
              <a:spcAft>
                <a:spcPts val="0"/>
              </a:spcAft>
              <a:buSzPct val="100000"/>
              <a:buFont typeface="Times New Roman"/>
              <a:buChar char="❏"/>
            </a:pPr>
            <a:r>
              <a:rPr lang="en" sz="2000">
                <a:latin typeface="Times New Roman"/>
                <a:ea typeface="Times New Roman"/>
                <a:cs typeface="Times New Roman"/>
                <a:sym typeface="Times New Roman"/>
              </a:rPr>
              <a:t>When running on versions of Android older than Android 8.0, the intent filters associated with a receiver can be placed within the receiver element of the manifest file as follows:</a:t>
            </a:r>
            <a:endParaRPr sz="2000">
              <a:latin typeface="Times New Roman"/>
              <a:ea typeface="Times New Roman"/>
              <a:cs typeface="Times New Roman"/>
              <a:sym typeface="Times New Roman"/>
            </a:endParaRPr>
          </a:p>
          <a:p>
            <a:pPr marL="457200" lvl="0" indent="0" algn="just" rtl="0">
              <a:spcBef>
                <a:spcPts val="1200"/>
              </a:spcBef>
              <a:spcAft>
                <a:spcPts val="0"/>
              </a:spcAft>
              <a:buNone/>
            </a:pPr>
            <a:r>
              <a:rPr lang="en" sz="2000" b="1" i="1">
                <a:latin typeface="Times New Roman"/>
                <a:ea typeface="Times New Roman"/>
                <a:cs typeface="Times New Roman"/>
                <a:sym typeface="Times New Roman"/>
              </a:rPr>
              <a:t>&lt;receiver android:name="MyReceiver" &gt;</a:t>
            </a:r>
            <a:endParaRPr sz="2000" b="1" i="1">
              <a:latin typeface="Times New Roman"/>
              <a:ea typeface="Times New Roman"/>
              <a:cs typeface="Times New Roman"/>
              <a:sym typeface="Times New Roman"/>
            </a:endParaRPr>
          </a:p>
          <a:p>
            <a:pPr marL="457200" lvl="0" indent="457200" algn="just" rtl="0">
              <a:spcBef>
                <a:spcPts val="1200"/>
              </a:spcBef>
              <a:spcAft>
                <a:spcPts val="0"/>
              </a:spcAft>
              <a:buNone/>
            </a:pPr>
            <a:r>
              <a:rPr lang="en" sz="2000" b="1" i="1">
                <a:latin typeface="Times New Roman"/>
                <a:ea typeface="Times New Roman"/>
                <a:cs typeface="Times New Roman"/>
                <a:sym typeface="Times New Roman"/>
              </a:rPr>
              <a:t>&lt;intent-filter&gt;</a:t>
            </a:r>
            <a:endParaRPr sz="2000" b="1" i="1">
              <a:latin typeface="Times New Roman"/>
              <a:ea typeface="Times New Roman"/>
              <a:cs typeface="Times New Roman"/>
              <a:sym typeface="Times New Roman"/>
            </a:endParaRPr>
          </a:p>
          <a:p>
            <a:pPr marL="914400" lvl="0" indent="457200" algn="just" rtl="0">
              <a:spcBef>
                <a:spcPts val="1200"/>
              </a:spcBef>
              <a:spcAft>
                <a:spcPts val="0"/>
              </a:spcAft>
              <a:buNone/>
            </a:pPr>
            <a:r>
              <a:rPr lang="en" sz="2000" b="1" i="1">
                <a:latin typeface="Times New Roman"/>
                <a:ea typeface="Times New Roman"/>
                <a:cs typeface="Times New Roman"/>
                <a:sym typeface="Times New Roman"/>
              </a:rPr>
              <a:t>&lt;action android:name="com.example.Broadcast" &gt;</a:t>
            </a:r>
            <a:endParaRPr sz="2000" b="1" i="1">
              <a:latin typeface="Times New Roman"/>
              <a:ea typeface="Times New Roman"/>
              <a:cs typeface="Times New Roman"/>
              <a:sym typeface="Times New Roman"/>
            </a:endParaRPr>
          </a:p>
          <a:p>
            <a:pPr marL="914400" lvl="0" indent="457200" algn="just" rtl="0">
              <a:spcBef>
                <a:spcPts val="1200"/>
              </a:spcBef>
              <a:spcAft>
                <a:spcPts val="0"/>
              </a:spcAft>
              <a:buNone/>
            </a:pPr>
            <a:r>
              <a:rPr lang="en" sz="2000" b="1" i="1">
                <a:latin typeface="Times New Roman"/>
                <a:ea typeface="Times New Roman"/>
                <a:cs typeface="Times New Roman"/>
                <a:sym typeface="Times New Roman"/>
              </a:rPr>
              <a:t>&lt;/action&gt;</a:t>
            </a:r>
            <a:endParaRPr sz="2000" b="1" i="1">
              <a:latin typeface="Times New Roman"/>
              <a:ea typeface="Times New Roman"/>
              <a:cs typeface="Times New Roman"/>
              <a:sym typeface="Times New Roman"/>
            </a:endParaRPr>
          </a:p>
          <a:p>
            <a:pPr marL="457200" lvl="0" indent="457200" algn="just" rtl="0">
              <a:spcBef>
                <a:spcPts val="1200"/>
              </a:spcBef>
              <a:spcAft>
                <a:spcPts val="0"/>
              </a:spcAft>
              <a:buNone/>
            </a:pPr>
            <a:r>
              <a:rPr lang="en" sz="2000" b="1" i="1">
                <a:latin typeface="Times New Roman"/>
                <a:ea typeface="Times New Roman"/>
                <a:cs typeface="Times New Roman"/>
                <a:sym typeface="Times New Roman"/>
              </a:rPr>
              <a:t>&lt;/intent-filter&gt;</a:t>
            </a:r>
            <a:endParaRPr sz="2000" b="1" i="1">
              <a:latin typeface="Times New Roman"/>
              <a:ea typeface="Times New Roman"/>
              <a:cs typeface="Times New Roman"/>
              <a:sym typeface="Times New Roman"/>
            </a:endParaRPr>
          </a:p>
          <a:p>
            <a:pPr marL="457200" lvl="0" indent="0" algn="just" rtl="0">
              <a:spcBef>
                <a:spcPts val="1200"/>
              </a:spcBef>
              <a:spcAft>
                <a:spcPts val="1200"/>
              </a:spcAft>
              <a:buNone/>
            </a:pPr>
            <a:r>
              <a:rPr lang="en" sz="2000" b="1" i="1">
                <a:latin typeface="Times New Roman"/>
                <a:ea typeface="Times New Roman"/>
                <a:cs typeface="Times New Roman"/>
                <a:sym typeface="Times New Roman"/>
              </a:rPr>
              <a:t>&lt;/receiver&gt;</a:t>
            </a:r>
            <a:endParaRPr sz="2000" b="1" i="1">
              <a:latin typeface="Times New Roman"/>
              <a:ea typeface="Times New Roman"/>
              <a:cs typeface="Times New Roman"/>
              <a:sym typeface="Times New Roman"/>
            </a:endParaRPr>
          </a:p>
        </p:txBody>
      </p:sp>
      <p:sp>
        <p:nvSpPr>
          <p:cNvPr id="184" name="Google Shape;184;p2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14</a:t>
            </a:fld>
            <a:endParaRPr>
              <a:solidFill>
                <a:schemeClr val="accen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90" name="Google Shape;190;p27"/>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On Android 8.0 or later, the receiver must be registered in code using the </a:t>
            </a:r>
            <a:r>
              <a:rPr lang="en" sz="2000" i="1">
                <a:latin typeface="Times New Roman"/>
                <a:ea typeface="Times New Roman"/>
                <a:cs typeface="Times New Roman"/>
                <a:sym typeface="Times New Roman"/>
              </a:rPr>
              <a:t>registerReceiver()</a:t>
            </a:r>
            <a:r>
              <a:rPr lang="en" sz="2000">
                <a:latin typeface="Times New Roman"/>
                <a:ea typeface="Times New Roman"/>
                <a:cs typeface="Times New Roman"/>
                <a:sym typeface="Times New Roman"/>
              </a:rPr>
              <a:t> method of the Activity class together with an appropriately configured IntentFilter object:</a:t>
            </a:r>
            <a:endParaRPr sz="2000">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IntentFilter filter = new IntentFilter("com.example.Broadcast");</a:t>
            </a:r>
            <a:endParaRPr sz="2000" b="1" i="1">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MyReceiver receiver = new MyReceiver();</a:t>
            </a:r>
            <a:endParaRPr sz="2000" b="1" i="1">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registerReceiver(receiver, filter);</a:t>
            </a:r>
            <a:endParaRPr sz="2000" b="1" i="1">
              <a:latin typeface="Times New Roman"/>
              <a:ea typeface="Times New Roman"/>
              <a:cs typeface="Times New Roman"/>
              <a:sym typeface="Times New Roman"/>
            </a:endParaRPr>
          </a:p>
          <a:p>
            <a:pPr marL="914400" lvl="0" indent="0" algn="just" rtl="0">
              <a:spcBef>
                <a:spcPts val="1200"/>
              </a:spcBef>
              <a:spcAft>
                <a:spcPts val="1200"/>
              </a:spcAft>
              <a:buNone/>
            </a:pPr>
            <a:endParaRPr sz="2000" b="1" i="1">
              <a:latin typeface="Times New Roman"/>
              <a:ea typeface="Times New Roman"/>
              <a:cs typeface="Times New Roman"/>
              <a:sym typeface="Times New Roman"/>
            </a:endParaRPr>
          </a:p>
        </p:txBody>
      </p:sp>
      <p:sp>
        <p:nvSpPr>
          <p:cNvPr id="191" name="Google Shape;191;p2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15</a:t>
            </a:fld>
            <a:endParaRPr>
              <a:solidFill>
                <a:schemeClr val="accen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 Overview of Broadcast Receivers</a:t>
            </a:r>
            <a:endParaRPr/>
          </a:p>
        </p:txBody>
      </p:sp>
      <p:sp>
        <p:nvSpPr>
          <p:cNvPr id="197" name="Google Shape;197;p28"/>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When a broadcast receiver registered in code is no longer required, it may be unregistered via a call to the </a:t>
            </a:r>
            <a:r>
              <a:rPr lang="en" sz="2000" i="1">
                <a:latin typeface="Times New Roman"/>
                <a:ea typeface="Times New Roman"/>
                <a:cs typeface="Times New Roman"/>
                <a:sym typeface="Times New Roman"/>
              </a:rPr>
              <a:t>unregisterReceiver()</a:t>
            </a:r>
            <a:r>
              <a:rPr lang="en" sz="2000">
                <a:latin typeface="Times New Roman"/>
                <a:ea typeface="Times New Roman"/>
                <a:cs typeface="Times New Roman"/>
                <a:sym typeface="Times New Roman"/>
              </a:rPr>
              <a:t> method of the activity class.</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Passing through a reference to the receiver object as an argument. </a:t>
            </a:r>
            <a:endParaRPr sz="2000">
              <a:latin typeface="Times New Roman"/>
              <a:ea typeface="Times New Roman"/>
              <a:cs typeface="Times New Roman"/>
              <a:sym typeface="Times New Roman"/>
            </a:endParaRPr>
          </a:p>
          <a:p>
            <a:pPr marL="914400" lvl="1"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For example, the following code will unregister the above broadcast receiver:</a:t>
            </a:r>
            <a:endParaRPr sz="2000">
              <a:latin typeface="Times New Roman"/>
              <a:ea typeface="Times New Roman"/>
              <a:cs typeface="Times New Roman"/>
              <a:sym typeface="Times New Roman"/>
            </a:endParaRPr>
          </a:p>
          <a:p>
            <a:pPr marL="914400" lvl="0" indent="457200" algn="just" rtl="0">
              <a:spcBef>
                <a:spcPts val="1200"/>
              </a:spcBef>
              <a:spcAft>
                <a:spcPts val="1200"/>
              </a:spcAft>
              <a:buNone/>
            </a:pPr>
            <a:r>
              <a:rPr lang="en" sz="2000" b="1" i="1">
                <a:latin typeface="Times New Roman"/>
                <a:ea typeface="Times New Roman"/>
                <a:cs typeface="Times New Roman"/>
                <a:sym typeface="Times New Roman"/>
              </a:rPr>
              <a:t>unregisterReceiver(receiver);</a:t>
            </a:r>
            <a:endParaRPr sz="2000" b="1" i="1">
              <a:latin typeface="Times New Roman"/>
              <a:ea typeface="Times New Roman"/>
              <a:cs typeface="Times New Roman"/>
              <a:sym typeface="Times New Roman"/>
            </a:endParaRPr>
          </a:p>
        </p:txBody>
      </p:sp>
      <p:sp>
        <p:nvSpPr>
          <p:cNvPr id="198" name="Google Shape;198;p2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16</a:t>
            </a:fld>
            <a:endParaRPr>
              <a:solidFill>
                <a:schemeClr val="accen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Broadcast Intent Example</a:t>
            </a:r>
            <a:endParaRPr/>
          </a:p>
        </p:txBody>
      </p:sp>
      <p:sp>
        <p:nvSpPr>
          <p:cNvPr id="239" name="Google Shape;239;p34"/>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A simple application will be created for the purpose of issuing a custom broadcast intent.</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A corresponding broadcast receiver will then be created that will display a message on the display of the Android device when the broadcast is detected.</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Finally, the broadcast receiver will be modified to detect notification by the system that external power has been disconnected from the device.</a:t>
            </a:r>
            <a:endParaRPr sz="2000" dirty="0">
              <a:latin typeface="Times New Roman"/>
              <a:ea typeface="Times New Roman"/>
              <a:cs typeface="Times New Roman"/>
              <a:sym typeface="Times New Roman"/>
            </a:endParaRPr>
          </a:p>
        </p:txBody>
      </p:sp>
      <p:sp>
        <p:nvSpPr>
          <p:cNvPr id="240" name="Google Shape;240;p3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17</a:t>
            </a:fld>
            <a:endParaRPr>
              <a:solidFill>
                <a:schemeClr val="accen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5"/>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Example Application</a:t>
            </a:r>
            <a:endParaRPr/>
          </a:p>
        </p:txBody>
      </p:sp>
      <p:sp>
        <p:nvSpPr>
          <p:cNvPr id="246" name="Google Shape;246;p35"/>
          <p:cNvSpPr txBox="1">
            <a:spLocks noGrp="1"/>
          </p:cNvSpPr>
          <p:nvPr>
            <p:ph type="body" idx="1"/>
          </p:nvPr>
        </p:nvSpPr>
        <p:spPr>
          <a:xfrm>
            <a:off x="727650" y="1400525"/>
            <a:ext cx="76905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Launch Android Studio and create a new project.</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Application name: </a:t>
            </a:r>
            <a:r>
              <a:rPr lang="en" sz="2000" i="1" dirty="0">
                <a:latin typeface="Times New Roman"/>
                <a:ea typeface="Times New Roman"/>
                <a:cs typeface="Times New Roman"/>
                <a:sym typeface="Times New Roman"/>
              </a:rPr>
              <a:t>SendBroadcast</a:t>
            </a:r>
            <a:endParaRPr sz="2000" i="1"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Company Domain: </a:t>
            </a:r>
            <a:r>
              <a:rPr lang="en" sz="2000" i="1" dirty="0">
                <a:latin typeface="Times New Roman"/>
                <a:ea typeface="Times New Roman"/>
                <a:cs typeface="Times New Roman"/>
                <a:sym typeface="Times New Roman"/>
              </a:rPr>
              <a:t>ebookfrenzy.com</a:t>
            </a:r>
            <a:r>
              <a:rPr lang="en" sz="2000" dirty="0">
                <a:latin typeface="Times New Roman"/>
                <a:ea typeface="Times New Roman"/>
                <a:cs typeface="Times New Roman"/>
                <a:sym typeface="Times New Roman"/>
              </a:rPr>
              <a:t> </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Click on the Next button.</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Enable the </a:t>
            </a:r>
            <a:r>
              <a:rPr lang="en" sz="2000" i="1" dirty="0">
                <a:latin typeface="Times New Roman"/>
                <a:ea typeface="Times New Roman"/>
                <a:cs typeface="Times New Roman"/>
                <a:sym typeface="Times New Roman"/>
              </a:rPr>
              <a:t>Phone and Tablet </a:t>
            </a:r>
            <a:r>
              <a:rPr lang="en" sz="2000" dirty="0">
                <a:latin typeface="Times New Roman"/>
                <a:ea typeface="Times New Roman"/>
                <a:cs typeface="Times New Roman"/>
                <a:sym typeface="Times New Roman"/>
              </a:rPr>
              <a:t>option and set the minimum SDK setting to API 14: Android 4.0</a:t>
            </a:r>
            <a:endParaRPr sz="2000" dirty="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Request the creation of an Empty Activity named </a:t>
            </a:r>
            <a:r>
              <a:rPr lang="en" sz="2000" i="1" dirty="0">
                <a:latin typeface="Times New Roman"/>
                <a:ea typeface="Times New Roman"/>
                <a:cs typeface="Times New Roman"/>
                <a:sym typeface="Times New Roman"/>
              </a:rPr>
              <a:t>SendBroadcastActivity </a:t>
            </a:r>
            <a:r>
              <a:rPr lang="en" sz="2000" dirty="0">
                <a:latin typeface="Times New Roman"/>
                <a:ea typeface="Times New Roman"/>
                <a:cs typeface="Times New Roman"/>
                <a:sym typeface="Times New Roman"/>
              </a:rPr>
              <a:t>with a corresponding layout resource file named</a:t>
            </a:r>
            <a:r>
              <a:rPr lang="en" sz="2000" i="1" dirty="0">
                <a:latin typeface="Times New Roman"/>
                <a:ea typeface="Times New Roman"/>
                <a:cs typeface="Times New Roman"/>
                <a:sym typeface="Times New Roman"/>
              </a:rPr>
              <a:t> activity_send_broadcast</a:t>
            </a:r>
            <a:endParaRPr sz="2000" dirty="0">
              <a:latin typeface="Times New Roman"/>
              <a:ea typeface="Times New Roman"/>
              <a:cs typeface="Times New Roman"/>
              <a:sym typeface="Times New Roman"/>
            </a:endParaRPr>
          </a:p>
        </p:txBody>
      </p:sp>
      <p:sp>
        <p:nvSpPr>
          <p:cNvPr id="247" name="Google Shape;247;p3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18</a:t>
            </a:fld>
            <a:endParaRPr>
              <a:solidFill>
                <a:schemeClr val="accen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6"/>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Example Application</a:t>
            </a:r>
            <a:endParaRPr/>
          </a:p>
        </p:txBody>
      </p:sp>
      <p:sp>
        <p:nvSpPr>
          <p:cNvPr id="253" name="Google Shape;253;p36"/>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Locate and load the </a:t>
            </a:r>
            <a:r>
              <a:rPr lang="en" sz="2000" i="1">
                <a:latin typeface="Times New Roman"/>
                <a:ea typeface="Times New Roman"/>
                <a:cs typeface="Times New Roman"/>
                <a:sym typeface="Times New Roman"/>
              </a:rPr>
              <a:t>activity_send_broadcast.xml</a:t>
            </a:r>
            <a:r>
              <a:rPr lang="en" sz="2000">
                <a:latin typeface="Times New Roman"/>
                <a:ea typeface="Times New Roman"/>
                <a:cs typeface="Times New Roman"/>
                <a:sym typeface="Times New Roman"/>
              </a:rPr>
              <a:t> layout file located in the Project tool window under </a:t>
            </a:r>
            <a:r>
              <a:rPr lang="en" sz="2000" i="1">
                <a:latin typeface="Times New Roman"/>
                <a:ea typeface="Times New Roman"/>
                <a:cs typeface="Times New Roman"/>
                <a:sym typeface="Times New Roman"/>
              </a:rPr>
              <a:t>app -&gt; res -&gt; layout</a:t>
            </a:r>
            <a:endParaRPr sz="2000" i="1">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Replace the TextView object with a Button view and set the text property so that it reads “Send Broadcast”.</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Locate the </a:t>
            </a:r>
            <a:r>
              <a:rPr lang="en" sz="2000" i="1">
                <a:latin typeface="Times New Roman"/>
                <a:ea typeface="Times New Roman"/>
                <a:cs typeface="Times New Roman"/>
                <a:sym typeface="Times New Roman"/>
              </a:rPr>
              <a:t>onClick</a:t>
            </a:r>
            <a:r>
              <a:rPr lang="en" sz="2000">
                <a:latin typeface="Times New Roman"/>
                <a:ea typeface="Times New Roman"/>
                <a:cs typeface="Times New Roman"/>
                <a:sym typeface="Times New Roman"/>
              </a:rPr>
              <a:t> property in the Attributes panel and configure it to call a method named </a:t>
            </a:r>
            <a:r>
              <a:rPr lang="en" sz="2000" i="1">
                <a:latin typeface="Times New Roman"/>
                <a:ea typeface="Times New Roman"/>
                <a:cs typeface="Times New Roman"/>
                <a:sym typeface="Times New Roman"/>
              </a:rPr>
              <a:t>broadcastIntent</a:t>
            </a:r>
            <a:endParaRPr sz="2000" i="1">
              <a:latin typeface="Times New Roman"/>
              <a:ea typeface="Times New Roman"/>
              <a:cs typeface="Times New Roman"/>
              <a:sym typeface="Times New Roman"/>
            </a:endParaRPr>
          </a:p>
          <a:p>
            <a:pPr marL="91440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254" name="Google Shape;254;p3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19</a:t>
            </a:fld>
            <a:endParaRPr>
              <a:solidFill>
                <a:schemeClr val="accen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7"/>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and Sending the Broadcast Intent</a:t>
            </a:r>
            <a:endParaRPr/>
          </a:p>
        </p:txBody>
      </p:sp>
      <p:sp>
        <p:nvSpPr>
          <p:cNvPr id="260" name="Google Shape;260;p37"/>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261" name="Google Shape;261;p3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20</a:t>
            </a:fld>
            <a:endParaRPr>
              <a:solidFill>
                <a:schemeClr val="accent1"/>
              </a:solidFill>
              <a:latin typeface="Lato"/>
              <a:ea typeface="Lato"/>
              <a:cs typeface="Lato"/>
              <a:sym typeface="Lato"/>
            </a:endParaRPr>
          </a:p>
        </p:txBody>
      </p:sp>
      <p:pic>
        <p:nvPicPr>
          <p:cNvPr id="262" name="Google Shape;262;p37"/>
          <p:cNvPicPr preferRelativeResize="0"/>
          <p:nvPr/>
        </p:nvPicPr>
        <p:blipFill>
          <a:blip r:embed="rId3">
            <a:alphaModFix/>
          </a:blip>
          <a:stretch>
            <a:fillRect/>
          </a:stretch>
        </p:blipFill>
        <p:spPr>
          <a:xfrm>
            <a:off x="287550" y="1135000"/>
            <a:ext cx="8572500" cy="3760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8"/>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and Sending the Broadcast Intent</a:t>
            </a:r>
            <a:endParaRPr/>
          </a:p>
        </p:txBody>
      </p:sp>
      <p:sp>
        <p:nvSpPr>
          <p:cNvPr id="268" name="Google Shape;268;p38"/>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269" name="Google Shape;269;p3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21</a:t>
            </a:fld>
            <a:endParaRPr>
              <a:solidFill>
                <a:schemeClr val="accent1"/>
              </a:solidFill>
              <a:latin typeface="Lato"/>
              <a:ea typeface="Lato"/>
              <a:cs typeface="Lato"/>
              <a:sym typeface="Lato"/>
            </a:endParaRPr>
          </a:p>
        </p:txBody>
      </p:sp>
      <p:pic>
        <p:nvPicPr>
          <p:cNvPr id="270" name="Google Shape;270;p38"/>
          <p:cNvPicPr preferRelativeResize="0"/>
          <p:nvPr/>
        </p:nvPicPr>
        <p:blipFill>
          <a:blip r:embed="rId3">
            <a:alphaModFix/>
          </a:blip>
          <a:stretch>
            <a:fillRect/>
          </a:stretch>
        </p:blipFill>
        <p:spPr>
          <a:xfrm>
            <a:off x="366700" y="1503188"/>
            <a:ext cx="8410575" cy="2409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9"/>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Broadcast Receiver</a:t>
            </a:r>
            <a:endParaRPr/>
          </a:p>
        </p:txBody>
      </p:sp>
      <p:sp>
        <p:nvSpPr>
          <p:cNvPr id="276" name="Google Shape;276;p39"/>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lnSpcReduction="20000"/>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In order to create the broadcast receiver, a new class needs to be created which subclasses the BroadcastReceiver superclass.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Within the Project tool window, navigate to</a:t>
            </a:r>
            <a:r>
              <a:rPr lang="en" sz="2000" i="1">
                <a:latin typeface="Times New Roman"/>
                <a:ea typeface="Times New Roman"/>
                <a:cs typeface="Times New Roman"/>
                <a:sym typeface="Times New Roman"/>
              </a:rPr>
              <a:t> app -&gt; java</a:t>
            </a:r>
            <a:r>
              <a:rPr lang="en" sz="2000">
                <a:latin typeface="Times New Roman"/>
                <a:ea typeface="Times New Roman"/>
                <a:cs typeface="Times New Roman"/>
                <a:sym typeface="Times New Roman"/>
              </a:rPr>
              <a:t> and right-click on the package name.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From the resulting menu, select the New -&gt; Other -&gt; Broadcast Receiver menu option, name the class </a:t>
            </a:r>
            <a:r>
              <a:rPr lang="en" sz="2000" i="1">
                <a:latin typeface="Times New Roman"/>
                <a:ea typeface="Times New Roman"/>
                <a:cs typeface="Times New Roman"/>
                <a:sym typeface="Times New Roman"/>
              </a:rPr>
              <a:t>MyReceiver</a:t>
            </a:r>
            <a:r>
              <a:rPr lang="en" sz="2000">
                <a:latin typeface="Times New Roman"/>
                <a:ea typeface="Times New Roman"/>
                <a:cs typeface="Times New Roman"/>
                <a:sym typeface="Times New Roman"/>
              </a:rPr>
              <a:t> and make sure the </a:t>
            </a:r>
            <a:r>
              <a:rPr lang="en" sz="2000" i="1">
                <a:latin typeface="Times New Roman"/>
                <a:ea typeface="Times New Roman"/>
                <a:cs typeface="Times New Roman"/>
                <a:sym typeface="Times New Roman"/>
              </a:rPr>
              <a:t>Exported and Enabled</a:t>
            </a:r>
            <a:r>
              <a:rPr lang="en" sz="2000">
                <a:latin typeface="Times New Roman"/>
                <a:ea typeface="Times New Roman"/>
                <a:cs typeface="Times New Roman"/>
                <a:sym typeface="Times New Roman"/>
              </a:rPr>
              <a:t> options are selected.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These settings allow the Android system to launch the receiver when needed and ensure that the class can receive messages sent by other applications on the device.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With the class configured, click on </a:t>
            </a:r>
            <a:r>
              <a:rPr lang="en" sz="2000" i="1">
                <a:latin typeface="Times New Roman"/>
                <a:ea typeface="Times New Roman"/>
                <a:cs typeface="Times New Roman"/>
                <a:sym typeface="Times New Roman"/>
              </a:rPr>
              <a:t>Finish</a:t>
            </a:r>
            <a:r>
              <a:rPr lang="en"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277" name="Google Shape;277;p3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22</a:t>
            </a:fld>
            <a:endParaRPr>
              <a:solidFill>
                <a:schemeClr val="accen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Broadcast Receiver</a:t>
            </a:r>
            <a:endParaRPr/>
          </a:p>
        </p:txBody>
      </p:sp>
      <p:sp>
        <p:nvSpPr>
          <p:cNvPr id="283" name="Google Shape;283;p40"/>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284" name="Google Shape;284;p4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23</a:t>
            </a:fld>
            <a:endParaRPr>
              <a:solidFill>
                <a:schemeClr val="accent1"/>
              </a:solidFill>
              <a:latin typeface="Lato"/>
              <a:ea typeface="Lato"/>
              <a:cs typeface="Lato"/>
              <a:sym typeface="Lato"/>
            </a:endParaRPr>
          </a:p>
        </p:txBody>
      </p:sp>
      <p:pic>
        <p:nvPicPr>
          <p:cNvPr id="285" name="Google Shape;285;p40"/>
          <p:cNvPicPr preferRelativeResize="0"/>
          <p:nvPr/>
        </p:nvPicPr>
        <p:blipFill>
          <a:blip r:embed="rId3">
            <a:alphaModFix/>
          </a:blip>
          <a:stretch>
            <a:fillRect/>
          </a:stretch>
        </p:blipFill>
        <p:spPr>
          <a:xfrm>
            <a:off x="440000" y="0"/>
            <a:ext cx="8264000" cy="514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1"/>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Broadcast Receiver</a:t>
            </a:r>
            <a:endParaRPr/>
          </a:p>
        </p:txBody>
      </p:sp>
      <p:sp>
        <p:nvSpPr>
          <p:cNvPr id="291" name="Google Shape;291;p41"/>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Android Studio has generated a template for the new class and generated a stub for the </a:t>
            </a:r>
            <a:r>
              <a:rPr lang="en" sz="2000" i="1">
                <a:latin typeface="Times New Roman"/>
                <a:ea typeface="Times New Roman"/>
                <a:cs typeface="Times New Roman"/>
                <a:sym typeface="Times New Roman"/>
              </a:rPr>
              <a:t>onReceive()</a:t>
            </a:r>
            <a:r>
              <a:rPr lang="en" sz="2000">
                <a:latin typeface="Times New Roman"/>
                <a:ea typeface="Times New Roman"/>
                <a:cs typeface="Times New Roman"/>
                <a:sym typeface="Times New Roman"/>
              </a:rPr>
              <a:t> method.</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 number of changes now need to be made to the class to implement the required behavior.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Remaining in the </a:t>
            </a:r>
            <a:r>
              <a:rPr lang="en" sz="2000" i="1">
                <a:latin typeface="Times New Roman"/>
                <a:ea typeface="Times New Roman"/>
                <a:cs typeface="Times New Roman"/>
                <a:sym typeface="Times New Roman"/>
              </a:rPr>
              <a:t>MyReceiver.java</a:t>
            </a:r>
            <a:r>
              <a:rPr lang="en" sz="2000">
                <a:latin typeface="Times New Roman"/>
                <a:ea typeface="Times New Roman"/>
                <a:cs typeface="Times New Roman"/>
                <a:sym typeface="Times New Roman"/>
              </a:rPr>
              <a:t> file, therefore, modify the code so that it reads as follows:</a:t>
            </a:r>
            <a:endParaRPr sz="2000">
              <a:latin typeface="Times New Roman"/>
              <a:ea typeface="Times New Roman"/>
              <a:cs typeface="Times New Roman"/>
              <a:sym typeface="Times New Roman"/>
            </a:endParaRPr>
          </a:p>
          <a:p>
            <a:pPr marL="45720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292" name="Google Shape;292;p4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24</a:t>
            </a:fld>
            <a:endParaRPr>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2"/>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Broadcast Receiver</a:t>
            </a:r>
            <a:endParaRPr/>
          </a:p>
        </p:txBody>
      </p:sp>
      <p:sp>
        <p:nvSpPr>
          <p:cNvPr id="298" name="Google Shape;298;p42"/>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299" name="Google Shape;299;p4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25</a:t>
            </a:fld>
            <a:endParaRPr>
              <a:solidFill>
                <a:schemeClr val="accent1"/>
              </a:solidFill>
              <a:latin typeface="Lato"/>
              <a:ea typeface="Lato"/>
              <a:cs typeface="Lato"/>
              <a:sym typeface="Lato"/>
            </a:endParaRPr>
          </a:p>
        </p:txBody>
      </p:sp>
      <p:pic>
        <p:nvPicPr>
          <p:cNvPr id="300" name="Google Shape;300;p42"/>
          <p:cNvPicPr preferRelativeResize="0"/>
          <p:nvPr/>
        </p:nvPicPr>
        <p:blipFill>
          <a:blip r:embed="rId3">
            <a:alphaModFix/>
          </a:blip>
          <a:stretch>
            <a:fillRect/>
          </a:stretch>
        </p:blipFill>
        <p:spPr>
          <a:xfrm>
            <a:off x="729438" y="1400513"/>
            <a:ext cx="5762625" cy="1247775"/>
          </a:xfrm>
          <a:prstGeom prst="rect">
            <a:avLst/>
          </a:prstGeom>
          <a:noFill/>
          <a:ln>
            <a:noFill/>
          </a:ln>
        </p:spPr>
      </p:pic>
      <p:pic>
        <p:nvPicPr>
          <p:cNvPr id="301" name="Google Shape;301;p42"/>
          <p:cNvPicPr preferRelativeResize="0"/>
          <p:nvPr/>
        </p:nvPicPr>
        <p:blipFill>
          <a:blip r:embed="rId4">
            <a:alphaModFix/>
          </a:blip>
          <a:stretch>
            <a:fillRect/>
          </a:stretch>
        </p:blipFill>
        <p:spPr>
          <a:xfrm>
            <a:off x="729450" y="2571750"/>
            <a:ext cx="7086600" cy="2305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3"/>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the Broadcast Receiver</a:t>
            </a:r>
            <a:endParaRPr/>
          </a:p>
        </p:txBody>
      </p:sp>
      <p:sp>
        <p:nvSpPr>
          <p:cNvPr id="307" name="Google Shape;307;p43"/>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308" name="Google Shape;308;p4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26</a:t>
            </a:fld>
            <a:endParaRPr>
              <a:solidFill>
                <a:schemeClr val="accent1"/>
              </a:solidFill>
              <a:latin typeface="Lato"/>
              <a:ea typeface="Lato"/>
              <a:cs typeface="Lato"/>
              <a:sym typeface="Lato"/>
            </a:endParaRPr>
          </a:p>
        </p:txBody>
      </p:sp>
      <p:pic>
        <p:nvPicPr>
          <p:cNvPr id="309" name="Google Shape;309;p43"/>
          <p:cNvPicPr preferRelativeResize="0"/>
          <p:nvPr/>
        </p:nvPicPr>
        <p:blipFill>
          <a:blip r:embed="rId3">
            <a:alphaModFix/>
          </a:blip>
          <a:stretch>
            <a:fillRect/>
          </a:stretch>
        </p:blipFill>
        <p:spPr>
          <a:xfrm>
            <a:off x="347025" y="1432475"/>
            <a:ext cx="8489874" cy="3450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4"/>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Registering the Broadcast Receiver</a:t>
            </a:r>
            <a:endParaRPr/>
          </a:p>
        </p:txBody>
      </p:sp>
      <p:sp>
        <p:nvSpPr>
          <p:cNvPr id="315" name="Google Shape;315;p44"/>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The file needs to publicize the presence of the broadcast receiver and must include an intent filter to specify the broadcast intents in which the receiver is interested.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When the BroadcastReceiver class was created in the previous section, Android Studio automatically added a </a:t>
            </a:r>
            <a:r>
              <a:rPr lang="en" sz="2000" i="1">
                <a:latin typeface="Times New Roman"/>
                <a:ea typeface="Times New Roman"/>
                <a:cs typeface="Times New Roman"/>
                <a:sym typeface="Times New Roman"/>
              </a:rPr>
              <a:t>&lt;receiver&gt;</a:t>
            </a:r>
            <a:r>
              <a:rPr lang="en" sz="2000">
                <a:latin typeface="Times New Roman"/>
                <a:ea typeface="Times New Roman"/>
                <a:cs typeface="Times New Roman"/>
                <a:sym typeface="Times New Roman"/>
              </a:rPr>
              <a:t> element to the manifest file.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All that remains, therefore, is to add code within the </a:t>
            </a:r>
            <a:r>
              <a:rPr lang="en" sz="2000" i="1">
                <a:latin typeface="Times New Roman"/>
                <a:ea typeface="Times New Roman"/>
                <a:cs typeface="Times New Roman"/>
                <a:sym typeface="Times New Roman"/>
              </a:rPr>
              <a:t>SendBroadcastActivity.java</a:t>
            </a:r>
            <a:r>
              <a:rPr lang="en" sz="2000">
                <a:latin typeface="Times New Roman"/>
                <a:ea typeface="Times New Roman"/>
                <a:cs typeface="Times New Roman"/>
                <a:sym typeface="Times New Roman"/>
              </a:rPr>
              <a:t> file to create an intent filter and to register the receiver:</a:t>
            </a:r>
            <a:endParaRPr sz="2000">
              <a:latin typeface="Times New Roman"/>
              <a:ea typeface="Times New Roman"/>
              <a:cs typeface="Times New Roman"/>
              <a:sym typeface="Times New Roman"/>
            </a:endParaRPr>
          </a:p>
        </p:txBody>
      </p:sp>
      <p:sp>
        <p:nvSpPr>
          <p:cNvPr id="316" name="Google Shape;316;p4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27</a:t>
            </a:fld>
            <a:endParaRPr>
              <a:solidFill>
                <a:schemeClr val="accen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5"/>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Registering the Broadcast Receiver</a:t>
            </a:r>
            <a:endParaRPr/>
          </a:p>
        </p:txBody>
      </p:sp>
      <p:sp>
        <p:nvSpPr>
          <p:cNvPr id="322" name="Google Shape;322;p45"/>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323" name="Google Shape;323;p4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28</a:t>
            </a:fld>
            <a:endParaRPr>
              <a:solidFill>
                <a:schemeClr val="accent1"/>
              </a:solidFill>
              <a:latin typeface="Lato"/>
              <a:ea typeface="Lato"/>
              <a:cs typeface="Lato"/>
              <a:sym typeface="Lato"/>
            </a:endParaRPr>
          </a:p>
        </p:txBody>
      </p:sp>
      <p:pic>
        <p:nvPicPr>
          <p:cNvPr id="324" name="Google Shape;324;p45"/>
          <p:cNvPicPr preferRelativeResize="0"/>
          <p:nvPr/>
        </p:nvPicPr>
        <p:blipFill>
          <a:blip r:embed="rId3">
            <a:alphaModFix/>
          </a:blip>
          <a:stretch>
            <a:fillRect/>
          </a:stretch>
        </p:blipFill>
        <p:spPr>
          <a:xfrm>
            <a:off x="306600" y="1330875"/>
            <a:ext cx="8534400" cy="2952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6"/>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Registering the Broadcast Receiver</a:t>
            </a:r>
            <a:endParaRPr/>
          </a:p>
        </p:txBody>
      </p:sp>
      <p:sp>
        <p:nvSpPr>
          <p:cNvPr id="330" name="Google Shape;330;p46"/>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endParaRPr sz="2000">
              <a:latin typeface="Times New Roman"/>
              <a:ea typeface="Times New Roman"/>
              <a:cs typeface="Times New Roman"/>
              <a:sym typeface="Times New Roman"/>
            </a:endParaRPr>
          </a:p>
        </p:txBody>
      </p:sp>
      <p:sp>
        <p:nvSpPr>
          <p:cNvPr id="331" name="Google Shape;331;p4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29</a:t>
            </a:fld>
            <a:endParaRPr>
              <a:solidFill>
                <a:schemeClr val="accent1"/>
              </a:solidFill>
              <a:latin typeface="Lato"/>
              <a:ea typeface="Lato"/>
              <a:cs typeface="Lato"/>
              <a:sym typeface="Lato"/>
            </a:endParaRPr>
          </a:p>
        </p:txBody>
      </p:sp>
      <p:pic>
        <p:nvPicPr>
          <p:cNvPr id="332" name="Google Shape;332;p46"/>
          <p:cNvPicPr preferRelativeResize="0"/>
          <p:nvPr/>
        </p:nvPicPr>
        <p:blipFill>
          <a:blip r:embed="rId3">
            <a:alphaModFix/>
          </a:blip>
          <a:stretch>
            <a:fillRect/>
          </a:stretch>
        </p:blipFill>
        <p:spPr>
          <a:xfrm>
            <a:off x="610125" y="421400"/>
            <a:ext cx="7923751" cy="4722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7"/>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Registering the Broadcast Receiver</a:t>
            </a:r>
            <a:endParaRPr/>
          </a:p>
        </p:txBody>
      </p:sp>
      <p:sp>
        <p:nvSpPr>
          <p:cNvPr id="338" name="Google Shape;338;p47"/>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It is also important to unregister the broadcast receiver when it is no longer needed:</a:t>
            </a:r>
            <a:endParaRPr sz="2000">
              <a:latin typeface="Times New Roman"/>
              <a:ea typeface="Times New Roman"/>
              <a:cs typeface="Times New Roman"/>
              <a:sym typeface="Times New Roman"/>
            </a:endParaRPr>
          </a:p>
          <a:p>
            <a:pPr marL="457200" lvl="0" indent="0" algn="just" rtl="0">
              <a:spcBef>
                <a:spcPts val="1200"/>
              </a:spcBef>
              <a:spcAft>
                <a:spcPts val="0"/>
              </a:spcAft>
              <a:buNone/>
            </a:pPr>
            <a:r>
              <a:rPr lang="en" sz="2000" b="1" i="1">
                <a:latin typeface="Times New Roman"/>
                <a:ea typeface="Times New Roman"/>
                <a:cs typeface="Times New Roman"/>
                <a:sym typeface="Times New Roman"/>
              </a:rPr>
              <a:t>@Override</a:t>
            </a:r>
            <a:endParaRPr sz="2000" b="1" i="1">
              <a:latin typeface="Times New Roman"/>
              <a:ea typeface="Times New Roman"/>
              <a:cs typeface="Times New Roman"/>
              <a:sym typeface="Times New Roman"/>
            </a:endParaRPr>
          </a:p>
          <a:p>
            <a:pPr marL="457200" lvl="0" indent="0" algn="just" rtl="0">
              <a:spcBef>
                <a:spcPts val="1200"/>
              </a:spcBef>
              <a:spcAft>
                <a:spcPts val="0"/>
              </a:spcAft>
              <a:buNone/>
            </a:pPr>
            <a:r>
              <a:rPr lang="en" sz="2000" b="1" i="1">
                <a:latin typeface="Times New Roman"/>
                <a:ea typeface="Times New Roman"/>
                <a:cs typeface="Times New Roman"/>
                <a:sym typeface="Times New Roman"/>
              </a:rPr>
              <a:t>protected void onDestroy() {</a:t>
            </a:r>
            <a:endParaRPr sz="2000" b="1" i="1">
              <a:latin typeface="Times New Roman"/>
              <a:ea typeface="Times New Roman"/>
              <a:cs typeface="Times New Roman"/>
              <a:sym typeface="Times New Roman"/>
            </a:endParaRPr>
          </a:p>
          <a:p>
            <a:pPr marL="457200" lvl="0" indent="457200" algn="just" rtl="0">
              <a:spcBef>
                <a:spcPts val="1200"/>
              </a:spcBef>
              <a:spcAft>
                <a:spcPts val="0"/>
              </a:spcAft>
              <a:buNone/>
            </a:pPr>
            <a:r>
              <a:rPr lang="en" sz="2000" b="1" i="1">
                <a:latin typeface="Times New Roman"/>
                <a:ea typeface="Times New Roman"/>
                <a:cs typeface="Times New Roman"/>
                <a:sym typeface="Times New Roman"/>
              </a:rPr>
              <a:t>super.onDestroy();</a:t>
            </a:r>
            <a:endParaRPr sz="2000" b="1" i="1">
              <a:latin typeface="Times New Roman"/>
              <a:ea typeface="Times New Roman"/>
              <a:cs typeface="Times New Roman"/>
              <a:sym typeface="Times New Roman"/>
            </a:endParaRPr>
          </a:p>
          <a:p>
            <a:pPr marL="457200" lvl="0" indent="457200" algn="just" rtl="0">
              <a:spcBef>
                <a:spcPts val="1200"/>
              </a:spcBef>
              <a:spcAft>
                <a:spcPts val="0"/>
              </a:spcAft>
              <a:buNone/>
            </a:pPr>
            <a:r>
              <a:rPr lang="en" sz="2000" b="1" i="1">
                <a:latin typeface="Times New Roman"/>
                <a:ea typeface="Times New Roman"/>
                <a:cs typeface="Times New Roman"/>
                <a:sym typeface="Times New Roman"/>
              </a:rPr>
              <a:t>unregisterReceiver(receiver);</a:t>
            </a:r>
            <a:endParaRPr sz="2000" b="1" i="1">
              <a:latin typeface="Times New Roman"/>
              <a:ea typeface="Times New Roman"/>
              <a:cs typeface="Times New Roman"/>
              <a:sym typeface="Times New Roman"/>
            </a:endParaRPr>
          </a:p>
          <a:p>
            <a:pPr marL="457200" lvl="0" indent="0" algn="just" rtl="0">
              <a:spcBef>
                <a:spcPts val="1200"/>
              </a:spcBef>
              <a:spcAft>
                <a:spcPts val="1200"/>
              </a:spcAft>
              <a:buNone/>
            </a:pPr>
            <a:r>
              <a:rPr lang="en" sz="2000" b="1" i="1">
                <a:latin typeface="Times New Roman"/>
                <a:ea typeface="Times New Roman"/>
                <a:cs typeface="Times New Roman"/>
                <a:sym typeface="Times New Roman"/>
              </a:rPr>
              <a:t>}</a:t>
            </a:r>
            <a:endParaRPr sz="2000" b="1" i="1">
              <a:latin typeface="Times New Roman"/>
              <a:ea typeface="Times New Roman"/>
              <a:cs typeface="Times New Roman"/>
              <a:sym typeface="Times New Roman"/>
            </a:endParaRPr>
          </a:p>
        </p:txBody>
      </p:sp>
      <p:sp>
        <p:nvSpPr>
          <p:cNvPr id="339" name="Google Shape;339;p4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30</a:t>
            </a:fld>
            <a:endParaRPr>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8"/>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Testing the Broadcast Example</a:t>
            </a:r>
            <a:endParaRPr/>
          </a:p>
        </p:txBody>
      </p:sp>
      <p:sp>
        <p:nvSpPr>
          <p:cNvPr id="345" name="Google Shape;345;p48"/>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Run the SendBroadcast app on a device or AVD and wait for it to appear on the display.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Once running, touch the button, at which point the toast message reading “Broadcast Intent Detected.” should pop up for a few seconds before fading away.</a:t>
            </a:r>
            <a:endParaRPr sz="2000">
              <a:latin typeface="Times New Roman"/>
              <a:ea typeface="Times New Roman"/>
              <a:cs typeface="Times New Roman"/>
              <a:sym typeface="Times New Roman"/>
            </a:endParaRPr>
          </a:p>
          <a:p>
            <a:pPr marL="45720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346" name="Google Shape;346;p4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31</a:t>
            </a:fld>
            <a:endParaRPr>
              <a:solidFill>
                <a:schemeClr val="accen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9"/>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Listening for System Broadcasts</a:t>
            </a:r>
            <a:endParaRPr/>
          </a:p>
        </p:txBody>
      </p:sp>
      <p:sp>
        <p:nvSpPr>
          <p:cNvPr id="352" name="Google Shape;352;p49"/>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The final stage of this example is to modify the intent filter for the broadcast receiver to listen also for the system intent that is broadcast when external power is disconnected from the device.</a:t>
            </a:r>
            <a:endParaRPr sz="2000">
              <a:latin typeface="Times New Roman"/>
              <a:ea typeface="Times New Roman"/>
              <a:cs typeface="Times New Roman"/>
              <a:sym typeface="Times New Roman"/>
            </a:endParaRPr>
          </a:p>
          <a:p>
            <a:pPr marL="914400" lvl="0" indent="-355600" algn="just" rtl="0">
              <a:spcBef>
                <a:spcPts val="0"/>
              </a:spcBef>
              <a:spcAft>
                <a:spcPts val="0"/>
              </a:spcAft>
              <a:buSzPts val="2000"/>
              <a:buFont typeface="Times New Roman"/>
              <a:buChar char="❏"/>
            </a:pPr>
            <a:r>
              <a:rPr lang="en" sz="2000" i="1">
                <a:latin typeface="Times New Roman"/>
                <a:ea typeface="Times New Roman"/>
                <a:cs typeface="Times New Roman"/>
                <a:sym typeface="Times New Roman"/>
              </a:rPr>
              <a:t>android.intent.action.ACTION_POWER_DISCONNECTED</a:t>
            </a:r>
            <a:endParaRPr sz="2000" i="1">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Modify the </a:t>
            </a:r>
            <a:r>
              <a:rPr lang="en" sz="2000" i="1">
                <a:latin typeface="Times New Roman"/>
                <a:ea typeface="Times New Roman"/>
                <a:cs typeface="Times New Roman"/>
                <a:sym typeface="Times New Roman"/>
              </a:rPr>
              <a:t>onCreate() </a:t>
            </a:r>
            <a:r>
              <a:rPr lang="en" sz="2000">
                <a:latin typeface="Times New Roman"/>
                <a:ea typeface="Times New Roman"/>
                <a:cs typeface="Times New Roman"/>
                <a:sym typeface="Times New Roman"/>
              </a:rPr>
              <a:t>method in the </a:t>
            </a:r>
            <a:r>
              <a:rPr lang="en" sz="2000" i="1">
                <a:latin typeface="Times New Roman"/>
                <a:ea typeface="Times New Roman"/>
                <a:cs typeface="Times New Roman"/>
                <a:sym typeface="Times New Roman"/>
              </a:rPr>
              <a:t>SendBroadcastActivity.java</a:t>
            </a:r>
            <a:r>
              <a:rPr lang="en" sz="2000">
                <a:latin typeface="Times New Roman"/>
                <a:ea typeface="Times New Roman"/>
                <a:cs typeface="Times New Roman"/>
                <a:sym typeface="Times New Roman"/>
              </a:rPr>
              <a:t> file to add this additional filter:</a:t>
            </a:r>
            <a:endParaRPr sz="2000">
              <a:latin typeface="Times New Roman"/>
              <a:ea typeface="Times New Roman"/>
              <a:cs typeface="Times New Roman"/>
              <a:sym typeface="Times New Roman"/>
            </a:endParaRPr>
          </a:p>
          <a:p>
            <a:pPr marL="91440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353" name="Google Shape;353;p4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32</a:t>
            </a:fld>
            <a:endParaRPr>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0"/>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Listening for System Broadcasts</a:t>
            </a:r>
            <a:endParaRPr/>
          </a:p>
        </p:txBody>
      </p:sp>
      <p:sp>
        <p:nvSpPr>
          <p:cNvPr id="359" name="Google Shape;359;p50"/>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0"/>
              </a:spcAft>
              <a:buNone/>
            </a:pPr>
            <a:r>
              <a:rPr lang="en" sz="2000" b="1" i="1">
                <a:latin typeface="Times New Roman"/>
                <a:ea typeface="Times New Roman"/>
                <a:cs typeface="Times New Roman"/>
                <a:sym typeface="Times New Roman"/>
              </a:rPr>
              <a:t>private void configureReceiver() {</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IntentFilter filter = new IntentFilter();</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filter.addAction("com.ebookfrenzy.sendbroadcast");</a:t>
            </a:r>
            <a:endParaRPr sz="2000" b="1" i="1">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filter.addAction("android.intent.action.ACTION_POWER_DISCONNECTED");</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receiver = new MyReceiver();</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registerReceiver(receiver, filter);</a:t>
            </a:r>
            <a:endParaRPr sz="2000" b="1" i="1">
              <a:latin typeface="Times New Roman"/>
              <a:ea typeface="Times New Roman"/>
              <a:cs typeface="Times New Roman"/>
              <a:sym typeface="Times New Roman"/>
            </a:endParaRPr>
          </a:p>
          <a:p>
            <a:pPr marL="0" lvl="0" indent="0" algn="just" rtl="0">
              <a:spcBef>
                <a:spcPts val="1200"/>
              </a:spcBef>
              <a:spcAft>
                <a:spcPts val="1200"/>
              </a:spcAft>
              <a:buNone/>
            </a:pPr>
            <a:r>
              <a:rPr lang="en" sz="2000" b="1" i="1">
                <a:latin typeface="Times New Roman"/>
                <a:ea typeface="Times New Roman"/>
                <a:cs typeface="Times New Roman"/>
                <a:sym typeface="Times New Roman"/>
              </a:rPr>
              <a:t>}</a:t>
            </a:r>
            <a:endParaRPr sz="2000" b="1" i="1">
              <a:latin typeface="Times New Roman"/>
              <a:ea typeface="Times New Roman"/>
              <a:cs typeface="Times New Roman"/>
              <a:sym typeface="Times New Roman"/>
            </a:endParaRPr>
          </a:p>
        </p:txBody>
      </p:sp>
      <p:sp>
        <p:nvSpPr>
          <p:cNvPr id="360" name="Google Shape;360;p5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33</a:t>
            </a:fld>
            <a:endParaRPr>
              <a:solidFill>
                <a:schemeClr val="accent1"/>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1"/>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Listening for System Broadcasts</a:t>
            </a:r>
            <a:endParaRPr/>
          </a:p>
        </p:txBody>
      </p:sp>
      <p:sp>
        <p:nvSpPr>
          <p:cNvPr id="366" name="Google Shape;366;p51"/>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Since the </a:t>
            </a:r>
            <a:r>
              <a:rPr lang="en" sz="2000" i="1">
                <a:latin typeface="Times New Roman"/>
                <a:ea typeface="Times New Roman"/>
                <a:cs typeface="Times New Roman"/>
                <a:sym typeface="Times New Roman"/>
              </a:rPr>
              <a:t>onReceive()</a:t>
            </a:r>
            <a:r>
              <a:rPr lang="en" sz="2000">
                <a:latin typeface="Times New Roman"/>
                <a:ea typeface="Times New Roman"/>
                <a:cs typeface="Times New Roman"/>
                <a:sym typeface="Times New Roman"/>
              </a:rPr>
              <a:t> method is now going to be listening for two types of broadcast intent, modify the code so that the action string of the current intent is also displayed in the toast message. </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 sz="2000">
                <a:latin typeface="Times New Roman"/>
                <a:ea typeface="Times New Roman"/>
                <a:cs typeface="Times New Roman"/>
                <a:sym typeface="Times New Roman"/>
              </a:rPr>
              <a:t>This string can be obtained via a call to the </a:t>
            </a:r>
            <a:r>
              <a:rPr lang="en" sz="2000" i="1">
                <a:latin typeface="Times New Roman"/>
                <a:ea typeface="Times New Roman"/>
                <a:cs typeface="Times New Roman"/>
                <a:sym typeface="Times New Roman"/>
              </a:rPr>
              <a:t>getAction()</a:t>
            </a:r>
            <a:r>
              <a:rPr lang="en" sz="2000">
                <a:latin typeface="Times New Roman"/>
                <a:ea typeface="Times New Roman"/>
                <a:cs typeface="Times New Roman"/>
                <a:sym typeface="Times New Roman"/>
              </a:rPr>
              <a:t> method of the intent object passed as an argument to the </a:t>
            </a:r>
            <a:r>
              <a:rPr lang="en" sz="2000" i="1">
                <a:latin typeface="Times New Roman"/>
                <a:ea typeface="Times New Roman"/>
                <a:cs typeface="Times New Roman"/>
                <a:sym typeface="Times New Roman"/>
              </a:rPr>
              <a:t>onReceive()</a:t>
            </a:r>
            <a:r>
              <a:rPr lang="en" sz="2000">
                <a:latin typeface="Times New Roman"/>
                <a:ea typeface="Times New Roman"/>
                <a:cs typeface="Times New Roman"/>
                <a:sym typeface="Times New Roman"/>
              </a:rPr>
              <a:t> method:</a:t>
            </a:r>
            <a:endParaRPr sz="2000">
              <a:latin typeface="Times New Roman"/>
              <a:ea typeface="Times New Roman"/>
              <a:cs typeface="Times New Roman"/>
              <a:sym typeface="Times New Roman"/>
            </a:endParaRPr>
          </a:p>
          <a:p>
            <a:pPr marL="0" lvl="0" indent="0" algn="just" rtl="0">
              <a:spcBef>
                <a:spcPts val="1200"/>
              </a:spcBef>
              <a:spcAft>
                <a:spcPts val="1200"/>
              </a:spcAft>
              <a:buNone/>
            </a:pPr>
            <a:endParaRPr sz="2000">
              <a:latin typeface="Times New Roman"/>
              <a:ea typeface="Times New Roman"/>
              <a:cs typeface="Times New Roman"/>
              <a:sym typeface="Times New Roman"/>
            </a:endParaRPr>
          </a:p>
        </p:txBody>
      </p:sp>
      <p:sp>
        <p:nvSpPr>
          <p:cNvPr id="367" name="Google Shape;367;p5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34</a:t>
            </a:fld>
            <a:endParaRPr>
              <a:solidFill>
                <a:schemeClr val="accent1"/>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2"/>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Listening for System Broadcasts</a:t>
            </a:r>
            <a:endParaRPr/>
          </a:p>
        </p:txBody>
      </p:sp>
      <p:sp>
        <p:nvSpPr>
          <p:cNvPr id="373" name="Google Shape;373;p52"/>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n" sz="2000" b="1" i="1">
                <a:latin typeface="Times New Roman"/>
                <a:ea typeface="Times New Roman"/>
                <a:cs typeface="Times New Roman"/>
                <a:sym typeface="Times New Roman"/>
              </a:rPr>
              <a:t>public void onReceive(Context context, Intent intent) {</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String message = "Broadcast intent detected " + intent.getAction();</a:t>
            </a:r>
            <a:endParaRPr sz="2000" b="1" i="1">
              <a:latin typeface="Times New Roman"/>
              <a:ea typeface="Times New Roman"/>
              <a:cs typeface="Times New Roman"/>
              <a:sym typeface="Times New Roman"/>
            </a:endParaRPr>
          </a:p>
          <a:p>
            <a:pPr marL="0" lvl="0" indent="457200" algn="just" rtl="0">
              <a:spcBef>
                <a:spcPts val="1200"/>
              </a:spcBef>
              <a:spcAft>
                <a:spcPts val="0"/>
              </a:spcAft>
              <a:buNone/>
            </a:pPr>
            <a:r>
              <a:rPr lang="en" sz="2000" b="1" i="1">
                <a:latin typeface="Times New Roman"/>
                <a:ea typeface="Times New Roman"/>
                <a:cs typeface="Times New Roman"/>
                <a:sym typeface="Times New Roman"/>
              </a:rPr>
              <a:t>Toast.makeText(context, message,Toast.LENGTH_LONG).show();</a:t>
            </a:r>
            <a:endParaRPr sz="2000" b="1" i="1">
              <a:latin typeface="Times New Roman"/>
              <a:ea typeface="Times New Roman"/>
              <a:cs typeface="Times New Roman"/>
              <a:sym typeface="Times New Roman"/>
            </a:endParaRPr>
          </a:p>
          <a:p>
            <a:pPr marL="0" lvl="0" indent="0" algn="just" rtl="0">
              <a:spcBef>
                <a:spcPts val="1200"/>
              </a:spcBef>
              <a:spcAft>
                <a:spcPts val="0"/>
              </a:spcAft>
              <a:buNone/>
            </a:pPr>
            <a:r>
              <a:rPr lang="en" sz="2000" b="1" i="1">
                <a:latin typeface="Times New Roman"/>
                <a:ea typeface="Times New Roman"/>
                <a:cs typeface="Times New Roman"/>
                <a:sym typeface="Times New Roman"/>
              </a:rPr>
              <a:t>}</a:t>
            </a:r>
            <a:endParaRPr sz="2000" b="1" i="1">
              <a:latin typeface="Times New Roman"/>
              <a:ea typeface="Times New Roman"/>
              <a:cs typeface="Times New Roman"/>
              <a:sym typeface="Times New Roman"/>
            </a:endParaRPr>
          </a:p>
          <a:p>
            <a:pPr marL="457200" lvl="0" indent="-346075" algn="just" rtl="0">
              <a:spcBef>
                <a:spcPts val="1200"/>
              </a:spcBef>
              <a:spcAft>
                <a:spcPts val="0"/>
              </a:spcAft>
              <a:buSzPct val="100000"/>
              <a:buFont typeface="Times New Roman"/>
              <a:buChar char="❏"/>
            </a:pPr>
            <a:r>
              <a:rPr lang="en" sz="2000">
                <a:latin typeface="Times New Roman"/>
                <a:ea typeface="Times New Roman"/>
                <a:cs typeface="Times New Roman"/>
                <a:sym typeface="Times New Roman"/>
              </a:rPr>
              <a:t>Test the receiver by re-installing the modified </a:t>
            </a:r>
            <a:r>
              <a:rPr lang="en" sz="2000" i="1">
                <a:latin typeface="Times New Roman"/>
                <a:ea typeface="Times New Roman"/>
                <a:cs typeface="Times New Roman"/>
                <a:sym typeface="Times New Roman"/>
              </a:rPr>
              <a:t>BroadcastReceiver</a:t>
            </a:r>
            <a:r>
              <a:rPr lang="en" sz="2000">
                <a:latin typeface="Times New Roman"/>
                <a:ea typeface="Times New Roman"/>
                <a:cs typeface="Times New Roman"/>
                <a:sym typeface="Times New Roman"/>
              </a:rPr>
              <a:t> package.</a:t>
            </a:r>
            <a:endParaRPr sz="2000">
              <a:latin typeface="Times New Roman"/>
              <a:ea typeface="Times New Roman"/>
              <a:cs typeface="Times New Roman"/>
              <a:sym typeface="Times New Roman"/>
            </a:endParaRPr>
          </a:p>
          <a:p>
            <a:pPr marL="457200" lvl="0" indent="-346075" algn="just" rtl="0">
              <a:spcBef>
                <a:spcPts val="0"/>
              </a:spcBef>
              <a:spcAft>
                <a:spcPts val="0"/>
              </a:spcAft>
              <a:buSzPct val="100000"/>
              <a:buFont typeface="Times New Roman"/>
              <a:buChar char="❏"/>
            </a:pPr>
            <a:r>
              <a:rPr lang="en" sz="2000">
                <a:latin typeface="Times New Roman"/>
                <a:ea typeface="Times New Roman"/>
                <a:cs typeface="Times New Roman"/>
                <a:sym typeface="Times New Roman"/>
              </a:rPr>
              <a:t>Touching the button in the </a:t>
            </a:r>
            <a:r>
              <a:rPr lang="en" sz="2000" i="1">
                <a:latin typeface="Times New Roman"/>
                <a:ea typeface="Times New Roman"/>
                <a:cs typeface="Times New Roman"/>
                <a:sym typeface="Times New Roman"/>
              </a:rPr>
              <a:t>SendBroadcast</a:t>
            </a:r>
            <a:r>
              <a:rPr lang="en" sz="2000">
                <a:latin typeface="Times New Roman"/>
                <a:ea typeface="Times New Roman"/>
                <a:cs typeface="Times New Roman"/>
                <a:sym typeface="Times New Roman"/>
              </a:rPr>
              <a:t> application should now result in a new message containing the custom action string:</a:t>
            </a:r>
            <a:endParaRPr sz="2000">
              <a:latin typeface="Times New Roman"/>
              <a:ea typeface="Times New Roman"/>
              <a:cs typeface="Times New Roman"/>
              <a:sym typeface="Times New Roman"/>
            </a:endParaRPr>
          </a:p>
          <a:p>
            <a:pPr marL="0" lvl="0" indent="457200" algn="just" rtl="0">
              <a:spcBef>
                <a:spcPts val="1200"/>
              </a:spcBef>
              <a:spcAft>
                <a:spcPts val="1200"/>
              </a:spcAft>
              <a:buNone/>
            </a:pPr>
            <a:r>
              <a:rPr lang="en" sz="2000" b="1" i="1">
                <a:latin typeface="Times New Roman"/>
                <a:ea typeface="Times New Roman"/>
                <a:cs typeface="Times New Roman"/>
                <a:sym typeface="Times New Roman"/>
              </a:rPr>
              <a:t>Broadcast intent detected com.ebookfrenzy.sendbroadcast</a:t>
            </a:r>
            <a:endParaRPr sz="2000" b="1" i="1">
              <a:latin typeface="Times New Roman"/>
              <a:ea typeface="Times New Roman"/>
              <a:cs typeface="Times New Roman"/>
              <a:sym typeface="Times New Roman"/>
            </a:endParaRPr>
          </a:p>
        </p:txBody>
      </p:sp>
      <p:sp>
        <p:nvSpPr>
          <p:cNvPr id="374" name="Google Shape;374;p5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35</a:t>
            </a:fld>
            <a:endParaRPr>
              <a:solidFill>
                <a:schemeClr val="accent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3"/>
          <p:cNvSpPr txBox="1">
            <a:spLocks noGrp="1"/>
          </p:cNvSpPr>
          <p:nvPr>
            <p:ph type="title"/>
          </p:nvPr>
        </p:nvSpPr>
        <p:spPr>
          <a:xfrm>
            <a:off x="727650" y="5998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Listening for System Broadcasts</a:t>
            </a:r>
            <a:endParaRPr/>
          </a:p>
        </p:txBody>
      </p:sp>
      <p:sp>
        <p:nvSpPr>
          <p:cNvPr id="380" name="Google Shape;380;p53"/>
          <p:cNvSpPr txBox="1">
            <a:spLocks noGrp="1"/>
          </p:cNvSpPr>
          <p:nvPr>
            <p:ph type="body" idx="1"/>
          </p:nvPr>
        </p:nvSpPr>
        <p:spPr>
          <a:xfrm>
            <a:off x="729450" y="1400525"/>
            <a:ext cx="7688700" cy="34827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Font typeface="Times New Roman"/>
              <a:buChar char="❏"/>
            </a:pPr>
            <a:r>
              <a:rPr lang="en" sz="2000" dirty="0">
                <a:latin typeface="Times New Roman"/>
                <a:ea typeface="Times New Roman"/>
                <a:cs typeface="Times New Roman"/>
                <a:sym typeface="Times New Roman"/>
              </a:rPr>
              <a:t>Remove the USB connector that is currently supplying power to the Android device.</a:t>
            </a:r>
            <a:endParaRPr sz="2000" dirty="0">
              <a:latin typeface="Times New Roman"/>
              <a:ea typeface="Times New Roman"/>
              <a:cs typeface="Times New Roman"/>
              <a:sym typeface="Times New Roman"/>
            </a:endParaRPr>
          </a:p>
          <a:p>
            <a:pPr marL="0" lvl="0" indent="0" algn="just" rtl="0">
              <a:spcBef>
                <a:spcPts val="1200"/>
              </a:spcBef>
              <a:spcAft>
                <a:spcPts val="0"/>
              </a:spcAft>
              <a:buNone/>
            </a:pPr>
            <a:r>
              <a:rPr lang="en" sz="1600" b="1" i="1" dirty="0">
                <a:latin typeface="Times New Roman"/>
                <a:ea typeface="Times New Roman"/>
                <a:cs typeface="Times New Roman"/>
                <a:sym typeface="Times New Roman"/>
              </a:rPr>
              <a:t>Broadcast intent detected android.intent.action.ACTION_POWER_DISCONNECTED</a:t>
            </a:r>
            <a:endParaRPr sz="1600" b="1" i="1" dirty="0">
              <a:latin typeface="Times New Roman"/>
              <a:ea typeface="Times New Roman"/>
              <a:cs typeface="Times New Roman"/>
              <a:sym typeface="Times New Roman"/>
            </a:endParaRPr>
          </a:p>
        </p:txBody>
      </p:sp>
      <p:sp>
        <p:nvSpPr>
          <p:cNvPr id="381" name="Google Shape;381;p5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accent1"/>
                </a:solidFill>
                <a:latin typeface="Lato"/>
                <a:ea typeface="Lato"/>
                <a:cs typeface="Lato"/>
                <a:sym typeface="Lato"/>
              </a:rPr>
              <a:t>36</a:t>
            </a:fld>
            <a:endParaRPr>
              <a:solidFill>
                <a:schemeClr val="accen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305E-695E-29DA-8C06-C480F025C296}"/>
              </a:ext>
            </a:extLst>
          </p:cNvPr>
          <p:cNvSpPr>
            <a:spLocks noGrp="1"/>
          </p:cNvSpPr>
          <p:nvPr>
            <p:ph type="title"/>
          </p:nvPr>
        </p:nvSpPr>
        <p:spPr/>
        <p:txBody>
          <a:bodyPr>
            <a:normAutofit fontScale="90000"/>
          </a:bodyPr>
          <a:lstStyle/>
          <a:p>
            <a:r>
              <a:rPr lang="en-IN" dirty="0"/>
              <a:t>System Broadcast Intents - examples</a:t>
            </a:r>
          </a:p>
        </p:txBody>
      </p:sp>
      <p:sp>
        <p:nvSpPr>
          <p:cNvPr id="3" name="Text Placeholder 2">
            <a:extLst>
              <a:ext uri="{FF2B5EF4-FFF2-40B4-BE49-F238E27FC236}">
                <a16:creationId xmlns:a16="http://schemas.microsoft.com/office/drawing/2014/main" id="{F1E4CB13-C57C-752D-C12D-FAD2CCEDC0D1}"/>
              </a:ext>
            </a:extLst>
          </p:cNvPr>
          <p:cNvSpPr>
            <a:spLocks noGrp="1"/>
          </p:cNvSpPr>
          <p:nvPr>
            <p:ph type="body" idx="1"/>
          </p:nvPr>
        </p:nvSpPr>
        <p:spPr/>
        <p:txBody>
          <a:bodyPr/>
          <a:lstStyle/>
          <a:p>
            <a:r>
              <a:rPr lang="en-IN" dirty="0"/>
              <a:t>https://developer.android.com/about/versions/11/reference/broadcast-intents-30</a:t>
            </a:r>
          </a:p>
        </p:txBody>
      </p:sp>
      <p:sp>
        <p:nvSpPr>
          <p:cNvPr id="4" name="Slide Number Placeholder 3">
            <a:extLst>
              <a:ext uri="{FF2B5EF4-FFF2-40B4-BE49-F238E27FC236}">
                <a16:creationId xmlns:a16="http://schemas.microsoft.com/office/drawing/2014/main" id="{A9119B78-1C7F-196B-B776-44CC8E2495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Tree>
    <p:extLst>
      <p:ext uri="{BB962C8B-B14F-4D97-AF65-F5344CB8AC3E}">
        <p14:creationId xmlns:p14="http://schemas.microsoft.com/office/powerpoint/2010/main" val="1421382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Thank You</a:t>
            </a:r>
            <a:endParaRPr/>
          </a:p>
        </p:txBody>
      </p:sp>
      <p:sp>
        <p:nvSpPr>
          <p:cNvPr id="387" name="Google Shape;387;p5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388" name="Google Shape;388;p5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1664</Words>
  <Application>Microsoft Office PowerPoint</Application>
  <PresentationFormat>On-screen Show (16:9)</PresentationFormat>
  <Paragraphs>177</Paragraphs>
  <Slides>38</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Times New Roman</vt:lpstr>
      <vt:lpstr>Arial</vt:lpstr>
      <vt:lpstr>Lato</vt:lpstr>
      <vt:lpstr>Raleway</vt:lpstr>
      <vt:lpstr>Streamline</vt:lpstr>
      <vt:lpstr>Broadcast Intents and Broadcast Receivers</vt:lpstr>
      <vt:lpstr>Exercises</vt:lpstr>
      <vt:lpstr>Broadcast Intents and Broadcast Receivers</vt:lpstr>
      <vt:lpstr>An Overview of Broadcast Intents</vt:lpstr>
      <vt:lpstr>An Overview of Broadcast Intents</vt:lpstr>
      <vt:lpstr>An Overview of Broadcast Intents</vt:lpstr>
      <vt:lpstr>An Overview of Broadcast Intents</vt:lpstr>
      <vt:lpstr>An Overview of Broadcast Intents</vt:lpstr>
      <vt:lpstr>An Overview of Broadcast Intents</vt:lpstr>
      <vt:lpstr>An Overview of Broadcast Receivers</vt:lpstr>
      <vt:lpstr>An Overview of Broadcast Receivers</vt:lpstr>
      <vt:lpstr>An Overview of Broadcast Receivers</vt:lpstr>
      <vt:lpstr>An Overview of Broadcast Receivers</vt:lpstr>
      <vt:lpstr>An Overview of Broadcast Receivers</vt:lpstr>
      <vt:lpstr>An Overview of Broadcast Receivers</vt:lpstr>
      <vt:lpstr>An Overview of Broadcast Receivers</vt:lpstr>
      <vt:lpstr>The Broadcast Intent Example</vt:lpstr>
      <vt:lpstr>Creating the Example Application</vt:lpstr>
      <vt:lpstr>Creating the Example Application</vt:lpstr>
      <vt:lpstr>Creating and Sending the Broadcast Intent</vt:lpstr>
      <vt:lpstr>Creating and Sending the Broadcast Intent</vt:lpstr>
      <vt:lpstr>Creating the Broadcast Receiver</vt:lpstr>
      <vt:lpstr>Creating the Broadcast Receiver</vt:lpstr>
      <vt:lpstr>Creating the Broadcast Receiver</vt:lpstr>
      <vt:lpstr>Creating the Broadcast Receiver</vt:lpstr>
      <vt:lpstr>Creating the Broadcast Receiver</vt:lpstr>
      <vt:lpstr>Registering the Broadcast Receiver</vt:lpstr>
      <vt:lpstr>Registering the Broadcast Receiver</vt:lpstr>
      <vt:lpstr>Registering the Broadcast Receiver</vt:lpstr>
      <vt:lpstr>Registering the Broadcast Receiver</vt:lpstr>
      <vt:lpstr>Testing the Broadcast Example</vt:lpstr>
      <vt:lpstr>Listening for System Broadcasts</vt:lpstr>
      <vt:lpstr>Listening for System Broadcasts</vt:lpstr>
      <vt:lpstr>Listening for System Broadcasts</vt:lpstr>
      <vt:lpstr>Listening for System Broadcasts</vt:lpstr>
      <vt:lpstr>Listening for System Broadcasts</vt:lpstr>
      <vt:lpstr>System Broadcast Intents - examples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Febin C Abdul Latheef</cp:lastModifiedBy>
  <cp:revision>3</cp:revision>
  <dcterms:modified xsi:type="dcterms:W3CDTF">2024-08-01T04:44:04Z</dcterms:modified>
</cp:coreProperties>
</file>